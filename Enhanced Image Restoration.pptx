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grandir Wide Bold" charset="1" panose="00000805000000000000"/>
      <p:regular r:id="rId20"/>
    </p:embeddedFont>
    <p:embeddedFont>
      <p:font typeface="Telegraf" charset="1" panose="00000500000000000000"/>
      <p:regular r:id="rId21"/>
    </p:embeddedFont>
    <p:embeddedFont>
      <p:font typeface="Agrandir Wide Medium" charset="1" panose="00000605000000000000"/>
      <p:regular r:id="rId22"/>
    </p:embeddedFont>
    <p:embeddedFont>
      <p:font typeface="Telegraf Medium" charset="1" panose="00000600000000000000"/>
      <p:regular r:id="rId23"/>
    </p:embeddedFont>
    <p:embeddedFont>
      <p:font typeface="Telegraf Bold" charset="1" panose="00000800000000000000"/>
      <p:regular r:id="rId24"/>
    </p:embeddedFont>
    <p:embeddedFont>
      <p:font typeface="TT Drugs Bold" charset="1" panose="02000803060000020003"/>
      <p:regular r:id="rId25"/>
    </p:embeddedFont>
    <p:embeddedFont>
      <p:font typeface="Lato Bold" charset="1" panose="020F05020202040302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566599" y="2710795"/>
            <a:ext cx="14353190" cy="5984020"/>
            <a:chOff x="0" y="0"/>
            <a:chExt cx="8240667" cy="34356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8147957" cy="3342924"/>
            </a:xfrm>
            <a:custGeom>
              <a:avLst/>
              <a:gdLst/>
              <a:ahLst/>
              <a:cxnLst/>
              <a:rect r="r" b="b" t="t" l="l"/>
              <a:pathLst>
                <a:path h="3342924" w="8147957">
                  <a:moveTo>
                    <a:pt x="0" y="3288314"/>
                  </a:moveTo>
                  <a:lnTo>
                    <a:pt x="0" y="3342924"/>
                  </a:lnTo>
                  <a:lnTo>
                    <a:pt x="8147957" y="3342924"/>
                  </a:lnTo>
                  <a:lnTo>
                    <a:pt x="8147957" y="0"/>
                  </a:lnTo>
                  <a:lnTo>
                    <a:pt x="8093347" y="0"/>
                  </a:lnTo>
                  <a:lnTo>
                    <a:pt x="8093347" y="3288314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8173357" cy="3368324"/>
            </a:xfrm>
            <a:custGeom>
              <a:avLst/>
              <a:gdLst/>
              <a:ahLst/>
              <a:cxnLst/>
              <a:rect r="r" b="b" t="t" l="l"/>
              <a:pathLst>
                <a:path h="3368324" w="8173357">
                  <a:moveTo>
                    <a:pt x="8106047" y="0"/>
                  </a:moveTo>
                  <a:lnTo>
                    <a:pt x="8106047" y="12700"/>
                  </a:lnTo>
                  <a:lnTo>
                    <a:pt x="8160657" y="12700"/>
                  </a:lnTo>
                  <a:lnTo>
                    <a:pt x="8160657" y="3355624"/>
                  </a:lnTo>
                  <a:lnTo>
                    <a:pt x="12700" y="3355624"/>
                  </a:lnTo>
                  <a:lnTo>
                    <a:pt x="12700" y="3301014"/>
                  </a:lnTo>
                  <a:lnTo>
                    <a:pt x="0" y="3301014"/>
                  </a:lnTo>
                  <a:lnTo>
                    <a:pt x="0" y="3368324"/>
                  </a:lnTo>
                  <a:lnTo>
                    <a:pt x="8173357" y="3368324"/>
                  </a:lnTo>
                  <a:lnTo>
                    <a:pt x="817335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8147957" cy="3342924"/>
            </a:xfrm>
            <a:custGeom>
              <a:avLst/>
              <a:gdLst/>
              <a:ahLst/>
              <a:cxnLst/>
              <a:rect r="r" b="b" t="t" l="l"/>
              <a:pathLst>
                <a:path h="3342924" w="8147957">
                  <a:moveTo>
                    <a:pt x="0" y="0"/>
                  </a:moveTo>
                  <a:lnTo>
                    <a:pt x="8147957" y="0"/>
                  </a:lnTo>
                  <a:lnTo>
                    <a:pt x="8147957" y="3342924"/>
                  </a:lnTo>
                  <a:lnTo>
                    <a:pt x="0" y="33429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73357" cy="3368324"/>
            </a:xfrm>
            <a:custGeom>
              <a:avLst/>
              <a:gdLst/>
              <a:ahLst/>
              <a:cxnLst/>
              <a:rect r="r" b="b" t="t" l="l"/>
              <a:pathLst>
                <a:path h="3368324" w="8173357">
                  <a:moveTo>
                    <a:pt x="80010" y="3368324"/>
                  </a:moveTo>
                  <a:lnTo>
                    <a:pt x="8173357" y="3368324"/>
                  </a:lnTo>
                  <a:lnTo>
                    <a:pt x="8173357" y="80010"/>
                  </a:lnTo>
                  <a:lnTo>
                    <a:pt x="8173357" y="67310"/>
                  </a:lnTo>
                  <a:lnTo>
                    <a:pt x="8173357" y="0"/>
                  </a:lnTo>
                  <a:lnTo>
                    <a:pt x="0" y="0"/>
                  </a:lnTo>
                  <a:lnTo>
                    <a:pt x="0" y="3368324"/>
                  </a:lnTo>
                  <a:lnTo>
                    <a:pt x="67310" y="3368324"/>
                  </a:lnTo>
                  <a:lnTo>
                    <a:pt x="80010" y="3368324"/>
                  </a:lnTo>
                  <a:close/>
                  <a:moveTo>
                    <a:pt x="12700" y="12700"/>
                  </a:moveTo>
                  <a:lnTo>
                    <a:pt x="8160657" y="12700"/>
                  </a:lnTo>
                  <a:lnTo>
                    <a:pt x="8160657" y="3355624"/>
                  </a:lnTo>
                  <a:lnTo>
                    <a:pt x="12700" y="3355624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329432" y="3805777"/>
            <a:ext cx="12362567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6"/>
              </a:lnSpc>
            </a:pPr>
            <a:r>
              <a:rPr lang="en-US" sz="6364" spc="318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Enhanced Image Restoration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29432" y="6516699"/>
            <a:ext cx="12082901" cy="93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3"/>
              </a:lnSpc>
            </a:pPr>
            <a:r>
              <a:rPr lang="en-US" sz="2794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Combining Convolution and Linear System Solving to restore damaged images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028700" y="2720215"/>
            <a:ext cx="6959664" cy="6538085"/>
            <a:chOff x="0" y="0"/>
            <a:chExt cx="3995786" cy="37537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3903076" cy="3661032"/>
            </a:xfrm>
            <a:custGeom>
              <a:avLst/>
              <a:gdLst/>
              <a:ahLst/>
              <a:cxnLst/>
              <a:rect r="r" b="b" t="t" l="l"/>
              <a:pathLst>
                <a:path h="3661032" w="3903076">
                  <a:moveTo>
                    <a:pt x="0" y="3606422"/>
                  </a:moveTo>
                  <a:lnTo>
                    <a:pt x="0" y="3661032"/>
                  </a:lnTo>
                  <a:lnTo>
                    <a:pt x="3903076" y="3661032"/>
                  </a:lnTo>
                  <a:lnTo>
                    <a:pt x="3903076" y="0"/>
                  </a:lnTo>
                  <a:lnTo>
                    <a:pt x="3848465" y="0"/>
                  </a:lnTo>
                  <a:lnTo>
                    <a:pt x="3848465" y="3606422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3928476" cy="3686432"/>
            </a:xfrm>
            <a:custGeom>
              <a:avLst/>
              <a:gdLst/>
              <a:ahLst/>
              <a:cxnLst/>
              <a:rect r="r" b="b" t="t" l="l"/>
              <a:pathLst>
                <a:path h="3686432" w="3928476">
                  <a:moveTo>
                    <a:pt x="3861165" y="0"/>
                  </a:moveTo>
                  <a:lnTo>
                    <a:pt x="3861165" y="12700"/>
                  </a:lnTo>
                  <a:lnTo>
                    <a:pt x="3915776" y="12700"/>
                  </a:lnTo>
                  <a:lnTo>
                    <a:pt x="3915776" y="3673732"/>
                  </a:lnTo>
                  <a:lnTo>
                    <a:pt x="12700" y="3673732"/>
                  </a:lnTo>
                  <a:lnTo>
                    <a:pt x="12700" y="3619122"/>
                  </a:lnTo>
                  <a:lnTo>
                    <a:pt x="0" y="3619122"/>
                  </a:lnTo>
                  <a:lnTo>
                    <a:pt x="0" y="3686432"/>
                  </a:lnTo>
                  <a:lnTo>
                    <a:pt x="3928476" y="3686432"/>
                  </a:lnTo>
                  <a:lnTo>
                    <a:pt x="39284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3903075" cy="3661032"/>
            </a:xfrm>
            <a:custGeom>
              <a:avLst/>
              <a:gdLst/>
              <a:ahLst/>
              <a:cxnLst/>
              <a:rect r="r" b="b" t="t" l="l"/>
              <a:pathLst>
                <a:path h="3661032" w="3903075">
                  <a:moveTo>
                    <a:pt x="0" y="0"/>
                  </a:moveTo>
                  <a:lnTo>
                    <a:pt x="3903075" y="0"/>
                  </a:lnTo>
                  <a:lnTo>
                    <a:pt x="3903075" y="3661032"/>
                  </a:lnTo>
                  <a:lnTo>
                    <a:pt x="0" y="3661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28476" cy="3686432"/>
            </a:xfrm>
            <a:custGeom>
              <a:avLst/>
              <a:gdLst/>
              <a:ahLst/>
              <a:cxnLst/>
              <a:rect r="r" b="b" t="t" l="l"/>
              <a:pathLst>
                <a:path h="3686432" w="3928476">
                  <a:moveTo>
                    <a:pt x="80010" y="3686432"/>
                  </a:moveTo>
                  <a:lnTo>
                    <a:pt x="3928476" y="3686432"/>
                  </a:lnTo>
                  <a:lnTo>
                    <a:pt x="3928476" y="80010"/>
                  </a:lnTo>
                  <a:lnTo>
                    <a:pt x="3928476" y="67310"/>
                  </a:lnTo>
                  <a:lnTo>
                    <a:pt x="3928476" y="0"/>
                  </a:lnTo>
                  <a:lnTo>
                    <a:pt x="0" y="0"/>
                  </a:lnTo>
                  <a:lnTo>
                    <a:pt x="0" y="3686432"/>
                  </a:lnTo>
                  <a:lnTo>
                    <a:pt x="67310" y="3686432"/>
                  </a:lnTo>
                  <a:lnTo>
                    <a:pt x="80010" y="3686432"/>
                  </a:lnTo>
                  <a:close/>
                  <a:moveTo>
                    <a:pt x="12700" y="12700"/>
                  </a:moveTo>
                  <a:lnTo>
                    <a:pt x="3915775" y="12700"/>
                  </a:lnTo>
                  <a:lnTo>
                    <a:pt x="3915775" y="3673732"/>
                  </a:lnTo>
                  <a:lnTo>
                    <a:pt x="12700" y="3673732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95848" y="3450929"/>
            <a:ext cx="5425368" cy="232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spc="349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Team members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386206" y="2720215"/>
            <a:ext cx="8873094" cy="6538085"/>
            <a:chOff x="0" y="0"/>
            <a:chExt cx="5094352" cy="37537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0010" y="80010"/>
              <a:ext cx="5001642" cy="3661032"/>
            </a:xfrm>
            <a:custGeom>
              <a:avLst/>
              <a:gdLst/>
              <a:ahLst/>
              <a:cxnLst/>
              <a:rect r="r" b="b" t="t" l="l"/>
              <a:pathLst>
                <a:path h="3661032" w="5001642">
                  <a:moveTo>
                    <a:pt x="0" y="3606422"/>
                  </a:moveTo>
                  <a:lnTo>
                    <a:pt x="0" y="3661032"/>
                  </a:lnTo>
                  <a:lnTo>
                    <a:pt x="5001642" y="3661032"/>
                  </a:lnTo>
                  <a:lnTo>
                    <a:pt x="5001642" y="0"/>
                  </a:lnTo>
                  <a:lnTo>
                    <a:pt x="4947032" y="0"/>
                  </a:lnTo>
                  <a:lnTo>
                    <a:pt x="4947032" y="3606422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7310" y="67310"/>
              <a:ext cx="5027042" cy="3686432"/>
            </a:xfrm>
            <a:custGeom>
              <a:avLst/>
              <a:gdLst/>
              <a:ahLst/>
              <a:cxnLst/>
              <a:rect r="r" b="b" t="t" l="l"/>
              <a:pathLst>
                <a:path h="3686432" w="5027042">
                  <a:moveTo>
                    <a:pt x="4959732" y="0"/>
                  </a:moveTo>
                  <a:lnTo>
                    <a:pt x="4959732" y="12700"/>
                  </a:lnTo>
                  <a:lnTo>
                    <a:pt x="5014342" y="12700"/>
                  </a:lnTo>
                  <a:lnTo>
                    <a:pt x="5014342" y="3673732"/>
                  </a:lnTo>
                  <a:lnTo>
                    <a:pt x="12700" y="3673732"/>
                  </a:lnTo>
                  <a:lnTo>
                    <a:pt x="12700" y="3619122"/>
                  </a:lnTo>
                  <a:lnTo>
                    <a:pt x="0" y="3619122"/>
                  </a:lnTo>
                  <a:lnTo>
                    <a:pt x="0" y="3686432"/>
                  </a:lnTo>
                  <a:lnTo>
                    <a:pt x="5027042" y="3686432"/>
                  </a:lnTo>
                  <a:lnTo>
                    <a:pt x="502704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5001642" cy="3661032"/>
            </a:xfrm>
            <a:custGeom>
              <a:avLst/>
              <a:gdLst/>
              <a:ahLst/>
              <a:cxnLst/>
              <a:rect r="r" b="b" t="t" l="l"/>
              <a:pathLst>
                <a:path h="3661032" w="5001642">
                  <a:moveTo>
                    <a:pt x="0" y="0"/>
                  </a:moveTo>
                  <a:lnTo>
                    <a:pt x="5001642" y="0"/>
                  </a:lnTo>
                  <a:lnTo>
                    <a:pt x="5001642" y="3661032"/>
                  </a:lnTo>
                  <a:lnTo>
                    <a:pt x="0" y="36610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27042" cy="3686432"/>
            </a:xfrm>
            <a:custGeom>
              <a:avLst/>
              <a:gdLst/>
              <a:ahLst/>
              <a:cxnLst/>
              <a:rect r="r" b="b" t="t" l="l"/>
              <a:pathLst>
                <a:path h="3686432" w="5027042">
                  <a:moveTo>
                    <a:pt x="80010" y="3686432"/>
                  </a:moveTo>
                  <a:lnTo>
                    <a:pt x="5027042" y="3686432"/>
                  </a:lnTo>
                  <a:lnTo>
                    <a:pt x="5027042" y="80010"/>
                  </a:lnTo>
                  <a:lnTo>
                    <a:pt x="5027042" y="67310"/>
                  </a:lnTo>
                  <a:lnTo>
                    <a:pt x="5027042" y="0"/>
                  </a:lnTo>
                  <a:lnTo>
                    <a:pt x="0" y="0"/>
                  </a:lnTo>
                  <a:lnTo>
                    <a:pt x="0" y="3686432"/>
                  </a:lnTo>
                  <a:lnTo>
                    <a:pt x="67310" y="3686432"/>
                  </a:lnTo>
                  <a:lnTo>
                    <a:pt x="80010" y="3686432"/>
                  </a:lnTo>
                  <a:close/>
                  <a:moveTo>
                    <a:pt x="12700" y="12700"/>
                  </a:moveTo>
                  <a:lnTo>
                    <a:pt x="5014342" y="12700"/>
                  </a:lnTo>
                  <a:lnTo>
                    <a:pt x="5014342" y="3673732"/>
                  </a:lnTo>
                  <a:lnTo>
                    <a:pt x="12700" y="3673732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802594" y="3649801"/>
            <a:ext cx="843068" cy="833495"/>
            <a:chOff x="0" y="0"/>
            <a:chExt cx="1124091" cy="11113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4091" cy="1111327"/>
            </a:xfrm>
            <a:custGeom>
              <a:avLst/>
              <a:gdLst/>
              <a:ahLst/>
              <a:cxnLst/>
              <a:rect r="r" b="b" t="t" l="l"/>
              <a:pathLst>
                <a:path h="1111327" w="1124091">
                  <a:moveTo>
                    <a:pt x="0" y="0"/>
                  </a:moveTo>
                  <a:lnTo>
                    <a:pt x="1124091" y="0"/>
                  </a:lnTo>
                  <a:lnTo>
                    <a:pt x="1124091" y="1111327"/>
                  </a:lnTo>
                  <a:lnTo>
                    <a:pt x="0" y="1111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114" r="0" b="-11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47126" y="94527"/>
              <a:ext cx="594774" cy="848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67"/>
                </a:lnSpc>
                <a:spcBef>
                  <a:spcPct val="0"/>
                </a:spcBef>
              </a:pPr>
              <a:r>
                <a:rPr lang="en-US" b="true" sz="3405">
                  <a:solidFill>
                    <a:srgbClr val="FFFFFF"/>
                  </a:solidFill>
                  <a:latin typeface="Agrandir Wide Medium"/>
                  <a:ea typeface="Agrandir Wide Medium"/>
                  <a:cs typeface="Agrandir Wide Medium"/>
                  <a:sym typeface="Agrandir Wide Medium"/>
                </a:rPr>
                <a:t>1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234487" y="3638260"/>
            <a:ext cx="4608425" cy="79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3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Prathamesh Kumar Singh [PES1UG24CS341]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02594" y="4930971"/>
            <a:ext cx="843068" cy="835404"/>
            <a:chOff x="0" y="0"/>
            <a:chExt cx="1124091" cy="11138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4091" cy="1113872"/>
            </a:xfrm>
            <a:custGeom>
              <a:avLst/>
              <a:gdLst/>
              <a:ahLst/>
              <a:cxnLst/>
              <a:rect r="r" b="b" t="t" l="l"/>
              <a:pathLst>
                <a:path h="1113872" w="1124091">
                  <a:moveTo>
                    <a:pt x="0" y="0"/>
                  </a:moveTo>
                  <a:lnTo>
                    <a:pt x="1124091" y="0"/>
                  </a:lnTo>
                  <a:lnTo>
                    <a:pt x="1124091" y="1113872"/>
                  </a:lnTo>
                  <a:lnTo>
                    <a:pt x="0" y="1113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247126" y="94527"/>
              <a:ext cx="594774" cy="850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67"/>
                </a:lnSpc>
                <a:spcBef>
                  <a:spcPct val="0"/>
                </a:spcBef>
              </a:pPr>
              <a:r>
                <a:rPr lang="en-US" b="true" sz="3405">
                  <a:solidFill>
                    <a:srgbClr val="FFFFFF"/>
                  </a:solidFill>
                  <a:latin typeface="Agrandir Wide Medium"/>
                  <a:ea typeface="Agrandir Wide Medium"/>
                  <a:cs typeface="Agrandir Wide Medium"/>
                  <a:sym typeface="Agrandir Wide Medium"/>
                </a:rPr>
                <a:t>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234487" y="4919430"/>
            <a:ext cx="4608425" cy="79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3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Puneeth Yenneti [PES1UG24CS348]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02594" y="6212141"/>
            <a:ext cx="843068" cy="835404"/>
            <a:chOff x="0" y="0"/>
            <a:chExt cx="1124091" cy="11138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24091" cy="1113872"/>
            </a:xfrm>
            <a:custGeom>
              <a:avLst/>
              <a:gdLst/>
              <a:ahLst/>
              <a:cxnLst/>
              <a:rect r="r" b="b" t="t" l="l"/>
              <a:pathLst>
                <a:path h="1113872" w="1124091">
                  <a:moveTo>
                    <a:pt x="0" y="0"/>
                  </a:moveTo>
                  <a:lnTo>
                    <a:pt x="1124091" y="0"/>
                  </a:lnTo>
                  <a:lnTo>
                    <a:pt x="1124091" y="1113872"/>
                  </a:lnTo>
                  <a:lnTo>
                    <a:pt x="0" y="1113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247126" y="94527"/>
              <a:ext cx="594774" cy="850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67"/>
                </a:lnSpc>
                <a:spcBef>
                  <a:spcPct val="0"/>
                </a:spcBef>
              </a:pPr>
              <a:r>
                <a:rPr lang="en-US" b="true" sz="3405">
                  <a:solidFill>
                    <a:srgbClr val="FFFFFF"/>
                  </a:solidFill>
                  <a:latin typeface="Agrandir Wide Medium"/>
                  <a:ea typeface="Agrandir Wide Medium"/>
                  <a:cs typeface="Agrandir Wide Medium"/>
                  <a:sym typeface="Agrandir Wide Medium"/>
                </a:rPr>
                <a:t>3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234487" y="6200600"/>
            <a:ext cx="4608425" cy="79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3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Prithviraj Ajay Patil [PES1UG24CS345]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802594" y="7493310"/>
            <a:ext cx="843068" cy="835404"/>
            <a:chOff x="0" y="0"/>
            <a:chExt cx="1124091" cy="11138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4091" cy="1113872"/>
            </a:xfrm>
            <a:custGeom>
              <a:avLst/>
              <a:gdLst/>
              <a:ahLst/>
              <a:cxnLst/>
              <a:rect r="r" b="b" t="t" l="l"/>
              <a:pathLst>
                <a:path h="1113872" w="1124091">
                  <a:moveTo>
                    <a:pt x="0" y="0"/>
                  </a:moveTo>
                  <a:lnTo>
                    <a:pt x="1124091" y="0"/>
                  </a:lnTo>
                  <a:lnTo>
                    <a:pt x="1124091" y="1113872"/>
                  </a:lnTo>
                  <a:lnTo>
                    <a:pt x="0" y="1113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47126" y="94527"/>
              <a:ext cx="594774" cy="850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67"/>
                </a:lnSpc>
                <a:spcBef>
                  <a:spcPct val="0"/>
                </a:spcBef>
              </a:pPr>
              <a:r>
                <a:rPr lang="en-US" b="true" sz="3405">
                  <a:solidFill>
                    <a:srgbClr val="FFFFFF"/>
                  </a:solidFill>
                  <a:latin typeface="Agrandir Wide Medium"/>
                  <a:ea typeface="Agrandir Wide Medium"/>
                  <a:cs typeface="Agrandir Wide Medium"/>
                  <a:sym typeface="Agrandir Wide Medium"/>
                </a:rPr>
                <a:t>4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234487" y="7481770"/>
            <a:ext cx="4608425" cy="79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Ramith Munnan Ravindranath</a:t>
            </a:r>
          </a:p>
          <a:p>
            <a:pPr algn="l" marL="0" indent="0" lvl="0">
              <a:lnSpc>
                <a:spcPts val="3119"/>
              </a:lnSpc>
            </a:pPr>
            <a:r>
              <a:rPr lang="en-US" sz="23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[PES1UG24CS367]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6230600" cy="2768059"/>
            <a:chOff x="0" y="0"/>
            <a:chExt cx="9318553" cy="15892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1441919"/>
                  </a:moveTo>
                  <a:lnTo>
                    <a:pt x="0" y="1496529"/>
                  </a:lnTo>
                  <a:lnTo>
                    <a:pt x="9225843" y="1496529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441919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454619"/>
                  </a:lnTo>
                  <a:lnTo>
                    <a:pt x="0" y="1454619"/>
                  </a:lnTo>
                  <a:lnTo>
                    <a:pt x="0" y="1521929"/>
                  </a:lnTo>
                  <a:lnTo>
                    <a:pt x="9251243" y="1521929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0"/>
                  </a:moveTo>
                  <a:lnTo>
                    <a:pt x="9225843" y="0"/>
                  </a:lnTo>
                  <a:lnTo>
                    <a:pt x="9225843" y="1496529"/>
                  </a:lnTo>
                  <a:lnTo>
                    <a:pt x="0" y="14965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80010" y="1521929"/>
                  </a:moveTo>
                  <a:lnTo>
                    <a:pt x="9251243" y="1521929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521929"/>
                  </a:lnTo>
                  <a:lnTo>
                    <a:pt x="67310" y="1521929"/>
                  </a:lnTo>
                  <a:lnTo>
                    <a:pt x="80010" y="1521929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4154038"/>
            <a:ext cx="16230600" cy="5104262"/>
            <a:chOff x="0" y="0"/>
            <a:chExt cx="10748599" cy="33802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0010" y="80010"/>
              <a:ext cx="10655888" cy="3287551"/>
            </a:xfrm>
            <a:custGeom>
              <a:avLst/>
              <a:gdLst/>
              <a:ahLst/>
              <a:cxnLst/>
              <a:rect r="r" b="b" t="t" l="l"/>
              <a:pathLst>
                <a:path h="3287551" w="10655888">
                  <a:moveTo>
                    <a:pt x="0" y="3232941"/>
                  </a:moveTo>
                  <a:lnTo>
                    <a:pt x="0" y="3287551"/>
                  </a:lnTo>
                  <a:lnTo>
                    <a:pt x="10655888" y="3287551"/>
                  </a:lnTo>
                  <a:lnTo>
                    <a:pt x="10655888" y="0"/>
                  </a:lnTo>
                  <a:lnTo>
                    <a:pt x="10601278" y="0"/>
                  </a:lnTo>
                  <a:lnTo>
                    <a:pt x="10601278" y="3232941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310" y="67310"/>
              <a:ext cx="10681288" cy="3312951"/>
            </a:xfrm>
            <a:custGeom>
              <a:avLst/>
              <a:gdLst/>
              <a:ahLst/>
              <a:cxnLst/>
              <a:rect r="r" b="b" t="t" l="l"/>
              <a:pathLst>
                <a:path h="3312951" w="10681288">
                  <a:moveTo>
                    <a:pt x="10613978" y="0"/>
                  </a:moveTo>
                  <a:lnTo>
                    <a:pt x="10613978" y="12700"/>
                  </a:lnTo>
                  <a:lnTo>
                    <a:pt x="10668588" y="12700"/>
                  </a:lnTo>
                  <a:lnTo>
                    <a:pt x="10668588" y="3300251"/>
                  </a:lnTo>
                  <a:lnTo>
                    <a:pt x="12700" y="3300251"/>
                  </a:lnTo>
                  <a:lnTo>
                    <a:pt x="12700" y="3245641"/>
                  </a:lnTo>
                  <a:lnTo>
                    <a:pt x="0" y="3245641"/>
                  </a:lnTo>
                  <a:lnTo>
                    <a:pt x="0" y="3312951"/>
                  </a:lnTo>
                  <a:lnTo>
                    <a:pt x="10681288" y="3312951"/>
                  </a:lnTo>
                  <a:lnTo>
                    <a:pt x="1068128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10655888" cy="3287551"/>
            </a:xfrm>
            <a:custGeom>
              <a:avLst/>
              <a:gdLst/>
              <a:ahLst/>
              <a:cxnLst/>
              <a:rect r="r" b="b" t="t" l="l"/>
              <a:pathLst>
                <a:path h="3287551" w="10655888">
                  <a:moveTo>
                    <a:pt x="0" y="0"/>
                  </a:moveTo>
                  <a:lnTo>
                    <a:pt x="10655888" y="0"/>
                  </a:lnTo>
                  <a:lnTo>
                    <a:pt x="10655888" y="3287551"/>
                  </a:lnTo>
                  <a:lnTo>
                    <a:pt x="0" y="32875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81288" cy="3312951"/>
            </a:xfrm>
            <a:custGeom>
              <a:avLst/>
              <a:gdLst/>
              <a:ahLst/>
              <a:cxnLst/>
              <a:rect r="r" b="b" t="t" l="l"/>
              <a:pathLst>
                <a:path h="3312951" w="10681288">
                  <a:moveTo>
                    <a:pt x="80010" y="3312951"/>
                  </a:moveTo>
                  <a:lnTo>
                    <a:pt x="10681288" y="3312951"/>
                  </a:lnTo>
                  <a:lnTo>
                    <a:pt x="10681288" y="80010"/>
                  </a:lnTo>
                  <a:lnTo>
                    <a:pt x="10681288" y="67310"/>
                  </a:lnTo>
                  <a:lnTo>
                    <a:pt x="10681288" y="0"/>
                  </a:lnTo>
                  <a:lnTo>
                    <a:pt x="0" y="0"/>
                  </a:lnTo>
                  <a:lnTo>
                    <a:pt x="0" y="3312951"/>
                  </a:lnTo>
                  <a:lnTo>
                    <a:pt x="67310" y="3312951"/>
                  </a:lnTo>
                  <a:lnTo>
                    <a:pt x="80010" y="3312951"/>
                  </a:lnTo>
                  <a:close/>
                  <a:moveTo>
                    <a:pt x="12700" y="12700"/>
                  </a:moveTo>
                  <a:lnTo>
                    <a:pt x="10668588" y="12700"/>
                  </a:lnTo>
                  <a:lnTo>
                    <a:pt x="10668588" y="3300251"/>
                  </a:lnTo>
                  <a:lnTo>
                    <a:pt x="12700" y="330025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4154038"/>
            <a:ext cx="16142863" cy="632973"/>
            <a:chOff x="0" y="0"/>
            <a:chExt cx="118125963" cy="46318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72390" y="72390"/>
              <a:ext cx="117981179" cy="4487024"/>
            </a:xfrm>
            <a:custGeom>
              <a:avLst/>
              <a:gdLst/>
              <a:ahLst/>
              <a:cxnLst/>
              <a:rect r="r" b="b" t="t" l="l"/>
              <a:pathLst>
                <a:path h="4487024" w="117981179">
                  <a:moveTo>
                    <a:pt x="0" y="0"/>
                  </a:moveTo>
                  <a:lnTo>
                    <a:pt x="117981179" y="0"/>
                  </a:lnTo>
                  <a:lnTo>
                    <a:pt x="117981179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125962" cy="4631804"/>
            </a:xfrm>
            <a:custGeom>
              <a:avLst/>
              <a:gdLst/>
              <a:ahLst/>
              <a:cxnLst/>
              <a:rect r="r" b="b" t="t" l="l"/>
              <a:pathLst>
                <a:path h="4631804" w="118125962">
                  <a:moveTo>
                    <a:pt x="117981189" y="4487024"/>
                  </a:moveTo>
                  <a:lnTo>
                    <a:pt x="118125962" y="4487024"/>
                  </a:lnTo>
                  <a:lnTo>
                    <a:pt x="118125962" y="4631804"/>
                  </a:lnTo>
                  <a:lnTo>
                    <a:pt x="117981189" y="4631804"/>
                  </a:lnTo>
                  <a:lnTo>
                    <a:pt x="117981189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117981189" y="144780"/>
                  </a:moveTo>
                  <a:lnTo>
                    <a:pt x="118125962" y="144780"/>
                  </a:lnTo>
                  <a:lnTo>
                    <a:pt x="118125962" y="4487024"/>
                  </a:lnTo>
                  <a:lnTo>
                    <a:pt x="117981189" y="4487024"/>
                  </a:lnTo>
                  <a:lnTo>
                    <a:pt x="117981189" y="144780"/>
                  </a:lnTo>
                  <a:close/>
                  <a:moveTo>
                    <a:pt x="144780" y="4487024"/>
                  </a:moveTo>
                  <a:lnTo>
                    <a:pt x="117981189" y="4487024"/>
                  </a:lnTo>
                  <a:lnTo>
                    <a:pt x="117981189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117981189" y="0"/>
                  </a:moveTo>
                  <a:lnTo>
                    <a:pt x="118125962" y="0"/>
                  </a:lnTo>
                  <a:lnTo>
                    <a:pt x="118125962" y="144780"/>
                  </a:lnTo>
                  <a:lnTo>
                    <a:pt x="117981189" y="144780"/>
                  </a:lnTo>
                  <a:lnTo>
                    <a:pt x="11798118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7981189" y="0"/>
                  </a:lnTo>
                  <a:lnTo>
                    <a:pt x="11798118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33243" y="4349307"/>
            <a:ext cx="1040736" cy="242434"/>
            <a:chOff x="0" y="0"/>
            <a:chExt cx="1387648" cy="323246"/>
          </a:xfrm>
        </p:grpSpPr>
        <p:grpSp>
          <p:nvGrpSpPr>
            <p:cNvPr name="Group 22" id="22"/>
            <p:cNvGrpSpPr>
              <a:grpSpLocks noChangeAspect="true"/>
            </p:cNvGrpSpPr>
            <p:nvPr/>
          </p:nvGrpSpPr>
          <p:grpSpPr>
            <a:xfrm rot="0">
              <a:off x="1068722" y="4321"/>
              <a:ext cx="318925" cy="318925"/>
              <a:chOff x="0" y="0"/>
              <a:chExt cx="495300" cy="4953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</p:spPr>
          </p:sp>
        </p:grp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548378" y="0"/>
              <a:ext cx="318925" cy="318925"/>
              <a:chOff x="0" y="0"/>
              <a:chExt cx="495300" cy="4953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</p:spPr>
          </p:sp>
        </p:grpSp>
        <p:grpSp>
          <p:nvGrpSpPr>
            <p:cNvPr name="Group 28" id="28"/>
            <p:cNvGrpSpPr>
              <a:grpSpLocks noChangeAspect="true"/>
            </p:cNvGrpSpPr>
            <p:nvPr/>
          </p:nvGrpSpPr>
          <p:grpSpPr>
            <a:xfrm rot="0">
              <a:off x="0" y="0"/>
              <a:ext cx="318925" cy="318925"/>
              <a:chOff x="0" y="0"/>
              <a:chExt cx="495300" cy="4953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</p:spPr>
          </p:sp>
        </p:grpSp>
      </p:grpSp>
      <p:sp>
        <p:nvSpPr>
          <p:cNvPr name="TextBox 31" id="31"/>
          <p:cNvSpPr txBox="true"/>
          <p:nvPr/>
        </p:nvSpPr>
        <p:spPr>
          <a:xfrm rot="0">
            <a:off x="1632886" y="1831705"/>
            <a:ext cx="1522400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500" spc="275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Why does this matter?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53611" y="5288723"/>
            <a:ext cx="16076914" cy="306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0110" indent="-350055" lvl="1">
              <a:lnSpc>
                <a:spcPts val="3404"/>
              </a:lnSpc>
              <a:buFont typeface="Arial"/>
              <a:buChar char="•"/>
            </a:pPr>
            <a:r>
              <a:rPr lang="en-US" sz="324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Real-world images get corrupted — bad sensors, transmission errors, interference</a:t>
            </a:r>
          </a:p>
          <a:p>
            <a:pPr algn="l" marL="700110" indent="-350055" lvl="1">
              <a:lnSpc>
                <a:spcPts val="3404"/>
              </a:lnSpc>
              <a:buFont typeface="Arial"/>
              <a:buChar char="•"/>
            </a:pPr>
            <a:r>
              <a:rPr lang="en-US" sz="324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 damaged image is just a matrix with wrong numbers</a:t>
            </a:r>
          </a:p>
          <a:p>
            <a:pPr algn="l" marL="700110" indent="-350055" lvl="1">
              <a:lnSpc>
                <a:spcPts val="3404"/>
              </a:lnSpc>
              <a:buFont typeface="Arial"/>
              <a:buChar char="•"/>
            </a:pPr>
            <a:r>
              <a:rPr lang="en-US" sz="324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Goal: use mathematics to recover the original pixel values</a:t>
            </a:r>
          </a:p>
          <a:p>
            <a:pPr algn="l" marL="700110" indent="-350055" lvl="1">
              <a:lnSpc>
                <a:spcPts val="3404"/>
              </a:lnSpc>
              <a:buFont typeface="Arial"/>
              <a:buChar char="•"/>
            </a:pPr>
            <a:r>
              <a:rPr lang="en-US" sz="3242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Two mathematical tools: Convolution (noise removal) + Linear Systems (reconstruction)</a:t>
            </a:r>
          </a:p>
          <a:p>
            <a:pPr algn="just">
              <a:lnSpc>
                <a:spcPts val="34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028700" y="1932120"/>
            <a:ext cx="16230600" cy="2010265"/>
            <a:chOff x="0" y="0"/>
            <a:chExt cx="9318553" cy="11541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9225843" cy="1061453"/>
            </a:xfrm>
            <a:custGeom>
              <a:avLst/>
              <a:gdLst/>
              <a:ahLst/>
              <a:cxnLst/>
              <a:rect r="r" b="b" t="t" l="l"/>
              <a:pathLst>
                <a:path h="1061453" w="9225843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9251243" cy="1086853"/>
            </a:xfrm>
            <a:custGeom>
              <a:avLst/>
              <a:gdLst/>
              <a:ahLst/>
              <a:cxnLst/>
              <a:rect r="r" b="b" t="t" l="l"/>
              <a:pathLst>
                <a:path h="1086853" w="9251243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9225843" cy="1061453"/>
            </a:xfrm>
            <a:custGeom>
              <a:avLst/>
              <a:gdLst/>
              <a:ahLst/>
              <a:cxnLst/>
              <a:rect r="r" b="b" t="t" l="l"/>
              <a:pathLst>
                <a:path h="1061453" w="9225843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51243" cy="1086853"/>
            </a:xfrm>
            <a:custGeom>
              <a:avLst/>
              <a:gdLst/>
              <a:ahLst/>
              <a:cxnLst/>
              <a:rect r="r" b="b" t="t" l="l"/>
              <a:pathLst>
                <a:path h="1086853" w="9251243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4268598"/>
            <a:ext cx="8115300" cy="4725365"/>
            <a:chOff x="0" y="0"/>
            <a:chExt cx="4659276" cy="27129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0010" y="80010"/>
              <a:ext cx="4566566" cy="2620287"/>
            </a:xfrm>
            <a:custGeom>
              <a:avLst/>
              <a:gdLst/>
              <a:ahLst/>
              <a:cxnLst/>
              <a:rect r="r" b="b" t="t" l="l"/>
              <a:pathLst>
                <a:path h="2620287" w="4566566">
                  <a:moveTo>
                    <a:pt x="0" y="2565677"/>
                  </a:moveTo>
                  <a:lnTo>
                    <a:pt x="0" y="2620287"/>
                  </a:lnTo>
                  <a:lnTo>
                    <a:pt x="4566566" y="2620287"/>
                  </a:lnTo>
                  <a:lnTo>
                    <a:pt x="4566566" y="0"/>
                  </a:lnTo>
                  <a:lnTo>
                    <a:pt x="4511957" y="0"/>
                  </a:lnTo>
                  <a:lnTo>
                    <a:pt x="4511957" y="2565677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310" y="67310"/>
              <a:ext cx="4591966" cy="2645687"/>
            </a:xfrm>
            <a:custGeom>
              <a:avLst/>
              <a:gdLst/>
              <a:ahLst/>
              <a:cxnLst/>
              <a:rect r="r" b="b" t="t" l="l"/>
              <a:pathLst>
                <a:path h="2645687" w="4591966">
                  <a:moveTo>
                    <a:pt x="4524657" y="0"/>
                  </a:moveTo>
                  <a:lnTo>
                    <a:pt x="4524657" y="12700"/>
                  </a:lnTo>
                  <a:lnTo>
                    <a:pt x="4579266" y="12700"/>
                  </a:lnTo>
                  <a:lnTo>
                    <a:pt x="4579266" y="2632987"/>
                  </a:lnTo>
                  <a:lnTo>
                    <a:pt x="12700" y="2632987"/>
                  </a:lnTo>
                  <a:lnTo>
                    <a:pt x="12700" y="2578377"/>
                  </a:lnTo>
                  <a:lnTo>
                    <a:pt x="0" y="2578377"/>
                  </a:lnTo>
                  <a:lnTo>
                    <a:pt x="0" y="2645687"/>
                  </a:lnTo>
                  <a:lnTo>
                    <a:pt x="4591966" y="2645687"/>
                  </a:lnTo>
                  <a:lnTo>
                    <a:pt x="459196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4566567" cy="2620287"/>
            </a:xfrm>
            <a:custGeom>
              <a:avLst/>
              <a:gdLst/>
              <a:ahLst/>
              <a:cxnLst/>
              <a:rect r="r" b="b" t="t" l="l"/>
              <a:pathLst>
                <a:path h="2620287" w="4566567">
                  <a:moveTo>
                    <a:pt x="0" y="0"/>
                  </a:moveTo>
                  <a:lnTo>
                    <a:pt x="4566567" y="0"/>
                  </a:lnTo>
                  <a:lnTo>
                    <a:pt x="4566567" y="2620287"/>
                  </a:lnTo>
                  <a:lnTo>
                    <a:pt x="0" y="26202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91967" cy="2645687"/>
            </a:xfrm>
            <a:custGeom>
              <a:avLst/>
              <a:gdLst/>
              <a:ahLst/>
              <a:cxnLst/>
              <a:rect r="r" b="b" t="t" l="l"/>
              <a:pathLst>
                <a:path h="2645687" w="4591967">
                  <a:moveTo>
                    <a:pt x="80010" y="2645687"/>
                  </a:moveTo>
                  <a:lnTo>
                    <a:pt x="4591967" y="2645687"/>
                  </a:lnTo>
                  <a:lnTo>
                    <a:pt x="4591967" y="80010"/>
                  </a:lnTo>
                  <a:lnTo>
                    <a:pt x="4591967" y="67310"/>
                  </a:lnTo>
                  <a:lnTo>
                    <a:pt x="4591967" y="0"/>
                  </a:lnTo>
                  <a:lnTo>
                    <a:pt x="0" y="0"/>
                  </a:lnTo>
                  <a:lnTo>
                    <a:pt x="0" y="2645687"/>
                  </a:lnTo>
                  <a:lnTo>
                    <a:pt x="67310" y="2645687"/>
                  </a:lnTo>
                  <a:lnTo>
                    <a:pt x="80010" y="2645687"/>
                  </a:lnTo>
                  <a:close/>
                  <a:moveTo>
                    <a:pt x="12700" y="12700"/>
                  </a:moveTo>
                  <a:lnTo>
                    <a:pt x="4579267" y="12700"/>
                  </a:lnTo>
                  <a:lnTo>
                    <a:pt x="4579267" y="2632987"/>
                  </a:lnTo>
                  <a:lnTo>
                    <a:pt x="12700" y="263298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421402" y="4268598"/>
            <a:ext cx="8190542" cy="4725365"/>
            <a:chOff x="0" y="0"/>
            <a:chExt cx="5037063" cy="2906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80010" y="80010"/>
              <a:ext cx="4944353" cy="2813320"/>
            </a:xfrm>
            <a:custGeom>
              <a:avLst/>
              <a:gdLst/>
              <a:ahLst/>
              <a:cxnLst/>
              <a:rect r="r" b="b" t="t" l="l"/>
              <a:pathLst>
                <a:path h="2813320" w="4944353">
                  <a:moveTo>
                    <a:pt x="0" y="2758710"/>
                  </a:moveTo>
                  <a:lnTo>
                    <a:pt x="0" y="2813320"/>
                  </a:lnTo>
                  <a:lnTo>
                    <a:pt x="4944353" y="2813320"/>
                  </a:lnTo>
                  <a:lnTo>
                    <a:pt x="4944353" y="0"/>
                  </a:lnTo>
                  <a:lnTo>
                    <a:pt x="4889743" y="0"/>
                  </a:lnTo>
                  <a:lnTo>
                    <a:pt x="4889743" y="2758710"/>
                  </a:lnTo>
                  <a:close/>
                </a:path>
              </a:pathLst>
            </a:custGeom>
            <a:solidFill>
              <a:srgbClr val="DED7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7310" y="67310"/>
              <a:ext cx="4969753" cy="2838720"/>
            </a:xfrm>
            <a:custGeom>
              <a:avLst/>
              <a:gdLst/>
              <a:ahLst/>
              <a:cxnLst/>
              <a:rect r="r" b="b" t="t" l="l"/>
              <a:pathLst>
                <a:path h="2838720" w="4969753">
                  <a:moveTo>
                    <a:pt x="4902443" y="0"/>
                  </a:moveTo>
                  <a:lnTo>
                    <a:pt x="4902443" y="12700"/>
                  </a:lnTo>
                  <a:lnTo>
                    <a:pt x="4957053" y="12700"/>
                  </a:lnTo>
                  <a:lnTo>
                    <a:pt x="4957053" y="2826020"/>
                  </a:lnTo>
                  <a:lnTo>
                    <a:pt x="12700" y="2826020"/>
                  </a:lnTo>
                  <a:lnTo>
                    <a:pt x="12700" y="2771410"/>
                  </a:lnTo>
                  <a:lnTo>
                    <a:pt x="0" y="2771410"/>
                  </a:lnTo>
                  <a:lnTo>
                    <a:pt x="0" y="2838720"/>
                  </a:lnTo>
                  <a:lnTo>
                    <a:pt x="4969753" y="2838720"/>
                  </a:lnTo>
                  <a:lnTo>
                    <a:pt x="496975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4944353" cy="2813320"/>
            </a:xfrm>
            <a:custGeom>
              <a:avLst/>
              <a:gdLst/>
              <a:ahLst/>
              <a:cxnLst/>
              <a:rect r="r" b="b" t="t" l="l"/>
              <a:pathLst>
                <a:path h="2813320" w="4944353">
                  <a:moveTo>
                    <a:pt x="0" y="0"/>
                  </a:moveTo>
                  <a:lnTo>
                    <a:pt x="4944353" y="0"/>
                  </a:lnTo>
                  <a:lnTo>
                    <a:pt x="4944353" y="2813320"/>
                  </a:lnTo>
                  <a:lnTo>
                    <a:pt x="0" y="2813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69753" cy="2838720"/>
            </a:xfrm>
            <a:custGeom>
              <a:avLst/>
              <a:gdLst/>
              <a:ahLst/>
              <a:cxnLst/>
              <a:rect r="r" b="b" t="t" l="l"/>
              <a:pathLst>
                <a:path h="2838720" w="4969753">
                  <a:moveTo>
                    <a:pt x="80010" y="2838720"/>
                  </a:moveTo>
                  <a:lnTo>
                    <a:pt x="4969753" y="2838720"/>
                  </a:lnTo>
                  <a:lnTo>
                    <a:pt x="4969753" y="80010"/>
                  </a:lnTo>
                  <a:lnTo>
                    <a:pt x="4969753" y="67310"/>
                  </a:lnTo>
                  <a:lnTo>
                    <a:pt x="4969753" y="0"/>
                  </a:lnTo>
                  <a:lnTo>
                    <a:pt x="0" y="0"/>
                  </a:lnTo>
                  <a:lnTo>
                    <a:pt x="0" y="2838720"/>
                  </a:lnTo>
                  <a:lnTo>
                    <a:pt x="67310" y="2838720"/>
                  </a:lnTo>
                  <a:lnTo>
                    <a:pt x="80010" y="2838720"/>
                  </a:lnTo>
                  <a:close/>
                  <a:moveTo>
                    <a:pt x="12700" y="12700"/>
                  </a:moveTo>
                  <a:lnTo>
                    <a:pt x="4957053" y="12700"/>
                  </a:lnTo>
                  <a:lnTo>
                    <a:pt x="4957053" y="2826020"/>
                  </a:lnTo>
                  <a:lnTo>
                    <a:pt x="12700" y="282602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9707767" y="5255408"/>
            <a:ext cx="7551533" cy="2920573"/>
          </a:xfrm>
          <a:custGeom>
            <a:avLst/>
            <a:gdLst/>
            <a:ahLst/>
            <a:cxnLst/>
            <a:rect r="r" b="b" t="t" l="l"/>
            <a:pathLst>
              <a:path h="2920573" w="7551533">
                <a:moveTo>
                  <a:pt x="0" y="0"/>
                </a:moveTo>
                <a:lnTo>
                  <a:pt x="7551533" y="0"/>
                </a:lnTo>
                <a:lnTo>
                  <a:pt x="7551533" y="2920573"/>
                </a:lnTo>
                <a:lnTo>
                  <a:pt x="0" y="292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81" t="0" r="-403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781636" y="2210117"/>
            <a:ext cx="12925526" cy="1256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spc="349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Image as a Matrix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31383" y="4677536"/>
            <a:ext cx="4972979" cy="33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420"/>
              </a:lnSpc>
              <a:spcBef>
                <a:spcPct val="0"/>
              </a:spcBef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1781636" y="6084976"/>
            <a:ext cx="6360215" cy="1092609"/>
            <a:chOff x="0" y="0"/>
            <a:chExt cx="8480287" cy="1456812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76200"/>
              <a:ext cx="8480287" cy="5757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009983"/>
              <a:ext cx="8480287" cy="446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19046" y="4840580"/>
            <a:ext cx="7057092" cy="3927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4710" indent="-347355" lvl="1">
              <a:lnSpc>
                <a:spcPts val="3861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Every image is a 2D matrix of numbers</a:t>
            </a:r>
          </a:p>
          <a:p>
            <a:pPr algn="l" marL="694710" indent="-347355" lvl="1">
              <a:lnSpc>
                <a:spcPts val="3861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Each value = pixel brightness (0 = black, 255 = white)</a:t>
            </a:r>
          </a:p>
          <a:p>
            <a:pPr algn="l" marL="694710" indent="-347355" lvl="1">
              <a:lnSpc>
                <a:spcPts val="3861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 100×100 image = 10,000 numbers</a:t>
            </a:r>
          </a:p>
          <a:p>
            <a:pPr algn="l" marL="694710" indent="-347355" lvl="1">
              <a:lnSpc>
                <a:spcPts val="3861"/>
              </a:lnSpc>
              <a:buFont typeface="Arial"/>
              <a:buChar char="•"/>
            </a:pPr>
            <a:r>
              <a:rPr lang="en-US" sz="321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All image operations are just matrix math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6230600" cy="2768059"/>
            <a:chOff x="0" y="0"/>
            <a:chExt cx="9318553" cy="15892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1441919"/>
                  </a:moveTo>
                  <a:lnTo>
                    <a:pt x="0" y="1496529"/>
                  </a:lnTo>
                  <a:lnTo>
                    <a:pt x="9225843" y="1496529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441919"/>
                  </a:lnTo>
                  <a:close/>
                </a:path>
              </a:pathLst>
            </a:custGeom>
            <a:solidFill>
              <a:srgbClr val="FFA79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454619"/>
                  </a:lnTo>
                  <a:lnTo>
                    <a:pt x="0" y="1454619"/>
                  </a:lnTo>
                  <a:lnTo>
                    <a:pt x="0" y="1521929"/>
                  </a:lnTo>
                  <a:lnTo>
                    <a:pt x="9251243" y="1521929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0"/>
                  </a:moveTo>
                  <a:lnTo>
                    <a:pt x="9225843" y="0"/>
                  </a:lnTo>
                  <a:lnTo>
                    <a:pt x="9225843" y="1496529"/>
                  </a:lnTo>
                  <a:lnTo>
                    <a:pt x="0" y="14965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80010" y="1521929"/>
                  </a:moveTo>
                  <a:lnTo>
                    <a:pt x="9251243" y="1521929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521929"/>
                  </a:lnTo>
                  <a:lnTo>
                    <a:pt x="67310" y="1521929"/>
                  </a:lnTo>
                  <a:lnTo>
                    <a:pt x="80010" y="1521929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84832" y="4349307"/>
            <a:ext cx="16230600" cy="5104262"/>
            <a:chOff x="0" y="0"/>
            <a:chExt cx="10748599" cy="33802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0010" y="80010"/>
              <a:ext cx="10655888" cy="3287551"/>
            </a:xfrm>
            <a:custGeom>
              <a:avLst/>
              <a:gdLst/>
              <a:ahLst/>
              <a:cxnLst/>
              <a:rect r="r" b="b" t="t" l="l"/>
              <a:pathLst>
                <a:path h="3287551" w="10655888">
                  <a:moveTo>
                    <a:pt x="0" y="3232941"/>
                  </a:moveTo>
                  <a:lnTo>
                    <a:pt x="0" y="3287551"/>
                  </a:lnTo>
                  <a:lnTo>
                    <a:pt x="10655888" y="3287551"/>
                  </a:lnTo>
                  <a:lnTo>
                    <a:pt x="10655888" y="0"/>
                  </a:lnTo>
                  <a:lnTo>
                    <a:pt x="10601278" y="0"/>
                  </a:lnTo>
                  <a:lnTo>
                    <a:pt x="10601278" y="3232941"/>
                  </a:lnTo>
                  <a:close/>
                </a:path>
              </a:pathLst>
            </a:custGeom>
            <a:solidFill>
              <a:srgbClr val="FFA79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310" y="67310"/>
              <a:ext cx="10681288" cy="3312951"/>
            </a:xfrm>
            <a:custGeom>
              <a:avLst/>
              <a:gdLst/>
              <a:ahLst/>
              <a:cxnLst/>
              <a:rect r="r" b="b" t="t" l="l"/>
              <a:pathLst>
                <a:path h="3312951" w="10681288">
                  <a:moveTo>
                    <a:pt x="10613978" y="0"/>
                  </a:moveTo>
                  <a:lnTo>
                    <a:pt x="10613978" y="12700"/>
                  </a:lnTo>
                  <a:lnTo>
                    <a:pt x="10668588" y="12700"/>
                  </a:lnTo>
                  <a:lnTo>
                    <a:pt x="10668588" y="3300251"/>
                  </a:lnTo>
                  <a:lnTo>
                    <a:pt x="12700" y="3300251"/>
                  </a:lnTo>
                  <a:lnTo>
                    <a:pt x="12700" y="3245641"/>
                  </a:lnTo>
                  <a:lnTo>
                    <a:pt x="0" y="3245641"/>
                  </a:lnTo>
                  <a:lnTo>
                    <a:pt x="0" y="3312951"/>
                  </a:lnTo>
                  <a:lnTo>
                    <a:pt x="10681288" y="3312951"/>
                  </a:lnTo>
                  <a:lnTo>
                    <a:pt x="1068128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10655888" cy="3287551"/>
            </a:xfrm>
            <a:custGeom>
              <a:avLst/>
              <a:gdLst/>
              <a:ahLst/>
              <a:cxnLst/>
              <a:rect r="r" b="b" t="t" l="l"/>
              <a:pathLst>
                <a:path h="3287551" w="10655888">
                  <a:moveTo>
                    <a:pt x="0" y="0"/>
                  </a:moveTo>
                  <a:lnTo>
                    <a:pt x="10655888" y="0"/>
                  </a:lnTo>
                  <a:lnTo>
                    <a:pt x="10655888" y="3287551"/>
                  </a:lnTo>
                  <a:lnTo>
                    <a:pt x="0" y="32875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81288" cy="3312951"/>
            </a:xfrm>
            <a:custGeom>
              <a:avLst/>
              <a:gdLst/>
              <a:ahLst/>
              <a:cxnLst/>
              <a:rect r="r" b="b" t="t" l="l"/>
              <a:pathLst>
                <a:path h="3312951" w="10681288">
                  <a:moveTo>
                    <a:pt x="80010" y="3312951"/>
                  </a:moveTo>
                  <a:lnTo>
                    <a:pt x="10681288" y="3312951"/>
                  </a:lnTo>
                  <a:lnTo>
                    <a:pt x="10681288" y="80010"/>
                  </a:lnTo>
                  <a:lnTo>
                    <a:pt x="10681288" y="67310"/>
                  </a:lnTo>
                  <a:lnTo>
                    <a:pt x="10681288" y="0"/>
                  </a:lnTo>
                  <a:lnTo>
                    <a:pt x="0" y="0"/>
                  </a:lnTo>
                  <a:lnTo>
                    <a:pt x="0" y="3312951"/>
                  </a:lnTo>
                  <a:lnTo>
                    <a:pt x="67310" y="3312951"/>
                  </a:lnTo>
                  <a:lnTo>
                    <a:pt x="80010" y="3312951"/>
                  </a:lnTo>
                  <a:close/>
                  <a:moveTo>
                    <a:pt x="12700" y="12700"/>
                  </a:moveTo>
                  <a:lnTo>
                    <a:pt x="10668588" y="12700"/>
                  </a:lnTo>
                  <a:lnTo>
                    <a:pt x="10668588" y="3300251"/>
                  </a:lnTo>
                  <a:lnTo>
                    <a:pt x="12700" y="330025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4154038"/>
            <a:ext cx="16142863" cy="683074"/>
            <a:chOff x="0" y="0"/>
            <a:chExt cx="21523817" cy="91076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1523817" cy="910765"/>
              <a:chOff x="0" y="0"/>
              <a:chExt cx="118125963" cy="499841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72390" y="72390"/>
                <a:ext cx="117981179" cy="4853636"/>
              </a:xfrm>
              <a:custGeom>
                <a:avLst/>
                <a:gdLst/>
                <a:ahLst/>
                <a:cxnLst/>
                <a:rect r="r" b="b" t="t" l="l"/>
                <a:pathLst>
                  <a:path h="4853636" w="117981179">
                    <a:moveTo>
                      <a:pt x="0" y="0"/>
                    </a:moveTo>
                    <a:lnTo>
                      <a:pt x="117981179" y="0"/>
                    </a:lnTo>
                    <a:lnTo>
                      <a:pt x="117981179" y="4853636"/>
                    </a:lnTo>
                    <a:lnTo>
                      <a:pt x="0" y="48536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A794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8125962" cy="4998415"/>
              </a:xfrm>
              <a:custGeom>
                <a:avLst/>
                <a:gdLst/>
                <a:ahLst/>
                <a:cxnLst/>
                <a:rect r="r" b="b" t="t" l="l"/>
                <a:pathLst>
                  <a:path h="4998415" w="118125962">
                    <a:moveTo>
                      <a:pt x="117981189" y="4853636"/>
                    </a:moveTo>
                    <a:lnTo>
                      <a:pt x="118125962" y="4853636"/>
                    </a:lnTo>
                    <a:lnTo>
                      <a:pt x="118125962" y="4998415"/>
                    </a:lnTo>
                    <a:lnTo>
                      <a:pt x="117981189" y="4998415"/>
                    </a:lnTo>
                    <a:lnTo>
                      <a:pt x="117981189" y="4853636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4853636"/>
                    </a:lnTo>
                    <a:lnTo>
                      <a:pt x="0" y="4853636"/>
                    </a:lnTo>
                    <a:lnTo>
                      <a:pt x="0" y="144780"/>
                    </a:lnTo>
                    <a:close/>
                    <a:moveTo>
                      <a:pt x="0" y="4853636"/>
                    </a:moveTo>
                    <a:lnTo>
                      <a:pt x="144780" y="4853636"/>
                    </a:lnTo>
                    <a:lnTo>
                      <a:pt x="144780" y="4998415"/>
                    </a:lnTo>
                    <a:lnTo>
                      <a:pt x="0" y="4998415"/>
                    </a:lnTo>
                    <a:lnTo>
                      <a:pt x="0" y="4853636"/>
                    </a:lnTo>
                    <a:close/>
                    <a:moveTo>
                      <a:pt x="117981189" y="144780"/>
                    </a:moveTo>
                    <a:lnTo>
                      <a:pt x="118125962" y="144780"/>
                    </a:lnTo>
                    <a:lnTo>
                      <a:pt x="118125962" y="4853636"/>
                    </a:lnTo>
                    <a:lnTo>
                      <a:pt x="117981189" y="4853636"/>
                    </a:lnTo>
                    <a:lnTo>
                      <a:pt x="117981189" y="144780"/>
                    </a:lnTo>
                    <a:close/>
                    <a:moveTo>
                      <a:pt x="144780" y="4853636"/>
                    </a:moveTo>
                    <a:lnTo>
                      <a:pt x="117981189" y="4853636"/>
                    </a:lnTo>
                    <a:lnTo>
                      <a:pt x="117981189" y="4998415"/>
                    </a:lnTo>
                    <a:lnTo>
                      <a:pt x="144780" y="4998415"/>
                    </a:lnTo>
                    <a:lnTo>
                      <a:pt x="144780" y="4853636"/>
                    </a:lnTo>
                    <a:close/>
                    <a:moveTo>
                      <a:pt x="117981189" y="0"/>
                    </a:moveTo>
                    <a:lnTo>
                      <a:pt x="118125962" y="0"/>
                    </a:lnTo>
                    <a:lnTo>
                      <a:pt x="118125962" y="144780"/>
                    </a:lnTo>
                    <a:lnTo>
                      <a:pt x="117981189" y="144780"/>
                    </a:lnTo>
                    <a:lnTo>
                      <a:pt x="117981189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117981189" y="0"/>
                    </a:lnTo>
                    <a:lnTo>
                      <a:pt x="117981189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389175" y="203287"/>
              <a:ext cx="3648139" cy="494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400" spc="48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The Pipeline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3243" y="4349307"/>
            <a:ext cx="1040736" cy="242434"/>
            <a:chOff x="0" y="0"/>
            <a:chExt cx="1387648" cy="323246"/>
          </a:xfrm>
        </p:grpSpPr>
        <p:grpSp>
          <p:nvGrpSpPr>
            <p:cNvPr name="Group 24" id="24"/>
            <p:cNvGrpSpPr>
              <a:grpSpLocks noChangeAspect="true"/>
            </p:cNvGrpSpPr>
            <p:nvPr/>
          </p:nvGrpSpPr>
          <p:grpSpPr>
            <a:xfrm rot="0">
              <a:off x="1068722" y="4321"/>
              <a:ext cx="318925" cy="318925"/>
              <a:chOff x="0" y="0"/>
              <a:chExt cx="495300" cy="4953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</p:spPr>
          </p:sp>
        </p:grpSp>
        <p:grpSp>
          <p:nvGrpSpPr>
            <p:cNvPr name="Group 27" id="27"/>
            <p:cNvGrpSpPr>
              <a:grpSpLocks noChangeAspect="true"/>
            </p:cNvGrpSpPr>
            <p:nvPr/>
          </p:nvGrpSpPr>
          <p:grpSpPr>
            <a:xfrm rot="0">
              <a:off x="548378" y="0"/>
              <a:ext cx="318925" cy="318925"/>
              <a:chOff x="0" y="0"/>
              <a:chExt cx="495300" cy="4953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</p:spPr>
          </p:sp>
        </p:grpSp>
        <p:grpSp>
          <p:nvGrpSpPr>
            <p:cNvPr name="Group 30" id="30"/>
            <p:cNvGrpSpPr>
              <a:grpSpLocks noChangeAspect="true"/>
            </p:cNvGrpSpPr>
            <p:nvPr/>
          </p:nvGrpSpPr>
          <p:grpSpPr>
            <a:xfrm rot="0">
              <a:off x="0" y="0"/>
              <a:ext cx="318925" cy="318925"/>
              <a:chOff x="0" y="0"/>
              <a:chExt cx="495300" cy="4953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</p:spPr>
          </p:sp>
        </p:grpSp>
      </p:grpSp>
      <p:grpSp>
        <p:nvGrpSpPr>
          <p:cNvPr name="Group 33" id="33"/>
          <p:cNvGrpSpPr/>
          <p:nvPr/>
        </p:nvGrpSpPr>
        <p:grpSpPr>
          <a:xfrm rot="0">
            <a:off x="1985780" y="6477951"/>
            <a:ext cx="3186586" cy="1593293"/>
            <a:chOff x="0" y="0"/>
            <a:chExt cx="812800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7B2B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6985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81"/>
                </a:lnSpc>
                <a:spcBef>
                  <a:spcPct val="0"/>
                </a:spcBef>
              </a:pPr>
              <a:r>
                <a:rPr lang="en-US" sz="2268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Original Image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642094" y="6427708"/>
            <a:ext cx="3287073" cy="1643536"/>
            <a:chOff x="0" y="0"/>
            <a:chExt cx="812800" cy="406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B2B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9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3"/>
                </a:lnSpc>
              </a:pPr>
              <a:r>
                <a:rPr lang="en-US" sz="227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Add Noise</a:t>
              </a:r>
              <a:r>
                <a:rPr lang="en-US" sz="227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</a:t>
              </a:r>
            </a:p>
            <a:p>
              <a:pPr algn="ctr" marL="0" indent="0" lvl="0">
                <a:lnSpc>
                  <a:spcPts val="2383"/>
                </a:lnSpc>
                <a:spcBef>
                  <a:spcPct val="0"/>
                </a:spcBef>
              </a:pPr>
              <a:r>
                <a:rPr lang="en-US" sz="227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(simulate damage)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355806" y="6427708"/>
            <a:ext cx="3287073" cy="1643536"/>
            <a:chOff x="0" y="0"/>
            <a:chExt cx="812800" cy="406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B2B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77800" y="9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1"/>
                </a:lnSpc>
              </a:pPr>
              <a:r>
                <a:rPr lang="en-US" sz="2268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Gaussian Blur (reduce noise via convolution)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195175" y="6452829"/>
            <a:ext cx="3136343" cy="1568172"/>
            <a:chOff x="0" y="0"/>
            <a:chExt cx="812800" cy="406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B2B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77800" y="9525"/>
              <a:ext cx="558800" cy="3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1"/>
                </a:lnSpc>
              </a:pPr>
              <a:r>
                <a:rPr lang="en-US" sz="2268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Linear System Solve (reconstruct) 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824104" y="6427708"/>
            <a:ext cx="3186586" cy="1643536"/>
            <a:chOff x="0" y="0"/>
            <a:chExt cx="812800" cy="419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419215"/>
            </a:xfrm>
            <a:custGeom>
              <a:avLst/>
              <a:gdLst/>
              <a:ahLst/>
              <a:cxnLst/>
              <a:rect r="r" b="b" t="t" l="l"/>
              <a:pathLst>
                <a:path h="419215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9608"/>
                  </a:lnTo>
                  <a:lnTo>
                    <a:pt x="609600" y="419215"/>
                  </a:lnTo>
                  <a:lnTo>
                    <a:pt x="0" y="419215"/>
                  </a:lnTo>
                  <a:lnTo>
                    <a:pt x="203200" y="209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B2B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77800" y="9525"/>
              <a:ext cx="558800" cy="409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1"/>
                </a:lnSpc>
              </a:pPr>
              <a:r>
                <a:rPr lang="en-US" sz="2268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Residual Analysis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4642094" y="1693592"/>
            <a:ext cx="9620927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 spc="349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Our Approach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6230600" cy="2768059"/>
            <a:chOff x="0" y="0"/>
            <a:chExt cx="9318553" cy="15892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1441919"/>
                  </a:moveTo>
                  <a:lnTo>
                    <a:pt x="0" y="1496529"/>
                  </a:lnTo>
                  <a:lnTo>
                    <a:pt x="9225843" y="1496529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441919"/>
                  </a:lnTo>
                  <a:close/>
                </a:path>
              </a:pathLst>
            </a:custGeom>
            <a:solidFill>
              <a:srgbClr val="FFF2A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454619"/>
                  </a:lnTo>
                  <a:lnTo>
                    <a:pt x="0" y="1454619"/>
                  </a:lnTo>
                  <a:lnTo>
                    <a:pt x="0" y="1521929"/>
                  </a:lnTo>
                  <a:lnTo>
                    <a:pt x="9251243" y="1521929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0"/>
                  </a:moveTo>
                  <a:lnTo>
                    <a:pt x="9225843" y="0"/>
                  </a:lnTo>
                  <a:lnTo>
                    <a:pt x="9225843" y="1496529"/>
                  </a:lnTo>
                  <a:lnTo>
                    <a:pt x="0" y="14965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80010" y="1521929"/>
                  </a:moveTo>
                  <a:lnTo>
                    <a:pt x="9251243" y="1521929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521929"/>
                  </a:lnTo>
                  <a:lnTo>
                    <a:pt x="67310" y="1521929"/>
                  </a:lnTo>
                  <a:lnTo>
                    <a:pt x="80010" y="1521929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4154038"/>
            <a:ext cx="16230600" cy="5104262"/>
            <a:chOff x="0" y="0"/>
            <a:chExt cx="10748599" cy="33802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0010" y="80010"/>
              <a:ext cx="10655888" cy="3287551"/>
            </a:xfrm>
            <a:custGeom>
              <a:avLst/>
              <a:gdLst/>
              <a:ahLst/>
              <a:cxnLst/>
              <a:rect r="r" b="b" t="t" l="l"/>
              <a:pathLst>
                <a:path h="3287551" w="10655888">
                  <a:moveTo>
                    <a:pt x="0" y="3232941"/>
                  </a:moveTo>
                  <a:lnTo>
                    <a:pt x="0" y="3287551"/>
                  </a:lnTo>
                  <a:lnTo>
                    <a:pt x="10655888" y="3287551"/>
                  </a:lnTo>
                  <a:lnTo>
                    <a:pt x="10655888" y="0"/>
                  </a:lnTo>
                  <a:lnTo>
                    <a:pt x="10601278" y="0"/>
                  </a:lnTo>
                  <a:lnTo>
                    <a:pt x="10601278" y="3232941"/>
                  </a:lnTo>
                  <a:close/>
                </a:path>
              </a:pathLst>
            </a:custGeom>
            <a:solidFill>
              <a:srgbClr val="FFFFA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310" y="67310"/>
              <a:ext cx="10681288" cy="3312951"/>
            </a:xfrm>
            <a:custGeom>
              <a:avLst/>
              <a:gdLst/>
              <a:ahLst/>
              <a:cxnLst/>
              <a:rect r="r" b="b" t="t" l="l"/>
              <a:pathLst>
                <a:path h="3312951" w="10681288">
                  <a:moveTo>
                    <a:pt x="10613978" y="0"/>
                  </a:moveTo>
                  <a:lnTo>
                    <a:pt x="10613978" y="12700"/>
                  </a:lnTo>
                  <a:lnTo>
                    <a:pt x="10668588" y="12700"/>
                  </a:lnTo>
                  <a:lnTo>
                    <a:pt x="10668588" y="3300251"/>
                  </a:lnTo>
                  <a:lnTo>
                    <a:pt x="12700" y="3300251"/>
                  </a:lnTo>
                  <a:lnTo>
                    <a:pt x="12700" y="3245641"/>
                  </a:lnTo>
                  <a:lnTo>
                    <a:pt x="0" y="3245641"/>
                  </a:lnTo>
                  <a:lnTo>
                    <a:pt x="0" y="3312951"/>
                  </a:lnTo>
                  <a:lnTo>
                    <a:pt x="10681288" y="3312951"/>
                  </a:lnTo>
                  <a:lnTo>
                    <a:pt x="1068128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10655888" cy="3287551"/>
            </a:xfrm>
            <a:custGeom>
              <a:avLst/>
              <a:gdLst/>
              <a:ahLst/>
              <a:cxnLst/>
              <a:rect r="r" b="b" t="t" l="l"/>
              <a:pathLst>
                <a:path h="3287551" w="10655888">
                  <a:moveTo>
                    <a:pt x="0" y="0"/>
                  </a:moveTo>
                  <a:lnTo>
                    <a:pt x="10655888" y="0"/>
                  </a:lnTo>
                  <a:lnTo>
                    <a:pt x="10655888" y="3287551"/>
                  </a:lnTo>
                  <a:lnTo>
                    <a:pt x="0" y="328755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81288" cy="3312951"/>
            </a:xfrm>
            <a:custGeom>
              <a:avLst/>
              <a:gdLst/>
              <a:ahLst/>
              <a:cxnLst/>
              <a:rect r="r" b="b" t="t" l="l"/>
              <a:pathLst>
                <a:path h="3312951" w="10681288">
                  <a:moveTo>
                    <a:pt x="80010" y="3312951"/>
                  </a:moveTo>
                  <a:lnTo>
                    <a:pt x="10681288" y="3312951"/>
                  </a:lnTo>
                  <a:lnTo>
                    <a:pt x="10681288" y="80010"/>
                  </a:lnTo>
                  <a:lnTo>
                    <a:pt x="10681288" y="67310"/>
                  </a:lnTo>
                  <a:lnTo>
                    <a:pt x="10681288" y="0"/>
                  </a:lnTo>
                  <a:lnTo>
                    <a:pt x="0" y="0"/>
                  </a:lnTo>
                  <a:lnTo>
                    <a:pt x="0" y="3312951"/>
                  </a:lnTo>
                  <a:lnTo>
                    <a:pt x="67310" y="3312951"/>
                  </a:lnTo>
                  <a:lnTo>
                    <a:pt x="80010" y="3312951"/>
                  </a:lnTo>
                  <a:close/>
                  <a:moveTo>
                    <a:pt x="12700" y="12700"/>
                  </a:moveTo>
                  <a:lnTo>
                    <a:pt x="10668588" y="12700"/>
                  </a:lnTo>
                  <a:lnTo>
                    <a:pt x="10668588" y="3300251"/>
                  </a:lnTo>
                  <a:lnTo>
                    <a:pt x="12700" y="330025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4154038"/>
            <a:ext cx="16142863" cy="632836"/>
            <a:chOff x="0" y="0"/>
            <a:chExt cx="21523817" cy="843782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1523817" cy="843782"/>
              <a:chOff x="0" y="0"/>
              <a:chExt cx="118125963" cy="463080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72390" y="72390"/>
                <a:ext cx="117981179" cy="4486021"/>
              </a:xfrm>
              <a:custGeom>
                <a:avLst/>
                <a:gdLst/>
                <a:ahLst/>
                <a:cxnLst/>
                <a:rect r="r" b="b" t="t" l="l"/>
                <a:pathLst>
                  <a:path h="4486021" w="117981179">
                    <a:moveTo>
                      <a:pt x="0" y="0"/>
                    </a:moveTo>
                    <a:lnTo>
                      <a:pt x="117981179" y="0"/>
                    </a:lnTo>
                    <a:lnTo>
                      <a:pt x="117981179" y="4486021"/>
                    </a:lnTo>
                    <a:lnTo>
                      <a:pt x="0" y="44860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2A5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8125962" cy="4630801"/>
              </a:xfrm>
              <a:custGeom>
                <a:avLst/>
                <a:gdLst/>
                <a:ahLst/>
                <a:cxnLst/>
                <a:rect r="r" b="b" t="t" l="l"/>
                <a:pathLst>
                  <a:path h="4630801" w="118125962">
                    <a:moveTo>
                      <a:pt x="117981189" y="4486021"/>
                    </a:moveTo>
                    <a:lnTo>
                      <a:pt x="118125962" y="4486021"/>
                    </a:lnTo>
                    <a:lnTo>
                      <a:pt x="118125962" y="4630801"/>
                    </a:lnTo>
                    <a:lnTo>
                      <a:pt x="117981189" y="4630801"/>
                    </a:lnTo>
                    <a:lnTo>
                      <a:pt x="117981189" y="4486021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4486021"/>
                    </a:lnTo>
                    <a:lnTo>
                      <a:pt x="0" y="4486021"/>
                    </a:lnTo>
                    <a:lnTo>
                      <a:pt x="0" y="144780"/>
                    </a:lnTo>
                    <a:close/>
                    <a:moveTo>
                      <a:pt x="0" y="4486021"/>
                    </a:moveTo>
                    <a:lnTo>
                      <a:pt x="144780" y="4486021"/>
                    </a:lnTo>
                    <a:lnTo>
                      <a:pt x="144780" y="4630801"/>
                    </a:lnTo>
                    <a:lnTo>
                      <a:pt x="0" y="4630801"/>
                    </a:lnTo>
                    <a:lnTo>
                      <a:pt x="0" y="4486021"/>
                    </a:lnTo>
                    <a:close/>
                    <a:moveTo>
                      <a:pt x="117981189" y="144780"/>
                    </a:moveTo>
                    <a:lnTo>
                      <a:pt x="118125962" y="144780"/>
                    </a:lnTo>
                    <a:lnTo>
                      <a:pt x="118125962" y="4486021"/>
                    </a:lnTo>
                    <a:lnTo>
                      <a:pt x="117981189" y="4486021"/>
                    </a:lnTo>
                    <a:lnTo>
                      <a:pt x="117981189" y="144780"/>
                    </a:lnTo>
                    <a:close/>
                    <a:moveTo>
                      <a:pt x="144780" y="4486021"/>
                    </a:moveTo>
                    <a:lnTo>
                      <a:pt x="117981189" y="4486021"/>
                    </a:lnTo>
                    <a:lnTo>
                      <a:pt x="117981189" y="4630801"/>
                    </a:lnTo>
                    <a:lnTo>
                      <a:pt x="144780" y="4630801"/>
                    </a:lnTo>
                    <a:lnTo>
                      <a:pt x="144780" y="4486021"/>
                    </a:lnTo>
                    <a:close/>
                    <a:moveTo>
                      <a:pt x="117981189" y="0"/>
                    </a:moveTo>
                    <a:lnTo>
                      <a:pt x="118125962" y="0"/>
                    </a:lnTo>
                    <a:lnTo>
                      <a:pt x="118125962" y="144780"/>
                    </a:lnTo>
                    <a:lnTo>
                      <a:pt x="117981189" y="144780"/>
                    </a:lnTo>
                    <a:lnTo>
                      <a:pt x="117981189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117981189" y="0"/>
                    </a:lnTo>
                    <a:lnTo>
                      <a:pt x="117981189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984145" y="169796"/>
              <a:ext cx="14257199" cy="494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400" spc="48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What is noise?.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3243" y="4349307"/>
            <a:ext cx="1040736" cy="242434"/>
            <a:chOff x="0" y="0"/>
            <a:chExt cx="1387648" cy="323246"/>
          </a:xfrm>
        </p:grpSpPr>
        <p:grpSp>
          <p:nvGrpSpPr>
            <p:cNvPr name="Group 24" id="24"/>
            <p:cNvGrpSpPr>
              <a:grpSpLocks noChangeAspect="true"/>
            </p:cNvGrpSpPr>
            <p:nvPr/>
          </p:nvGrpSpPr>
          <p:grpSpPr>
            <a:xfrm rot="0">
              <a:off x="1068722" y="4321"/>
              <a:ext cx="318925" cy="318925"/>
              <a:chOff x="0" y="0"/>
              <a:chExt cx="495300" cy="4953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</p:spPr>
          </p:sp>
        </p:grpSp>
        <p:grpSp>
          <p:nvGrpSpPr>
            <p:cNvPr name="Group 27" id="27"/>
            <p:cNvGrpSpPr>
              <a:grpSpLocks noChangeAspect="true"/>
            </p:cNvGrpSpPr>
            <p:nvPr/>
          </p:nvGrpSpPr>
          <p:grpSpPr>
            <a:xfrm rot="0">
              <a:off x="548378" y="0"/>
              <a:ext cx="318925" cy="318925"/>
              <a:chOff x="0" y="0"/>
              <a:chExt cx="495300" cy="4953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</p:spPr>
          </p:sp>
        </p:grpSp>
        <p:grpSp>
          <p:nvGrpSpPr>
            <p:cNvPr name="Group 30" id="30"/>
            <p:cNvGrpSpPr>
              <a:grpSpLocks noChangeAspect="true"/>
            </p:cNvGrpSpPr>
            <p:nvPr/>
          </p:nvGrpSpPr>
          <p:grpSpPr>
            <a:xfrm rot="0">
              <a:off x="0" y="0"/>
              <a:ext cx="318925" cy="318925"/>
              <a:chOff x="0" y="0"/>
              <a:chExt cx="495300" cy="4953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</p:spPr>
          </p:sp>
        </p:grpSp>
      </p:grpSp>
      <p:sp>
        <p:nvSpPr>
          <p:cNvPr name="TextBox 33" id="33"/>
          <p:cNvSpPr txBox="true"/>
          <p:nvPr/>
        </p:nvSpPr>
        <p:spPr>
          <a:xfrm rot="0">
            <a:off x="1632886" y="1689470"/>
            <a:ext cx="15104584" cy="1256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spc="349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Step 0: Adding Noise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51341" y="4929175"/>
            <a:ext cx="15344382" cy="381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 real-world scenarios, images get corrupted — by a bad camera sensor, transmission errors, or interference. We simulate this using </a:t>
            </a:r>
            <a:r>
              <a:rPr lang="en-US" sz="27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np.random.normal(0, 20, shape) </a:t>
            </a: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which adds random Gaussian noise to every pixel.</a:t>
            </a:r>
          </a:p>
          <a:p>
            <a:pPr algn="l">
              <a:lnSpc>
                <a:spcPts val="3358"/>
              </a:lnSpc>
            </a:pPr>
          </a:p>
          <a:p>
            <a:pPr algn="l" marL="604330" indent="-302165" lvl="1">
              <a:lnSpc>
                <a:spcPts val="3358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Mean = 0 (noise is centred around zero, not biased)</a:t>
            </a:r>
          </a:p>
          <a:p>
            <a:pPr algn="l" marL="604330" indent="-302165" lvl="1">
              <a:lnSpc>
                <a:spcPts val="3358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Std = 20 (noise can shift pixel values by roughly ±20 brightness units)</a:t>
            </a:r>
          </a:p>
          <a:p>
            <a:pPr algn="l">
              <a:lnSpc>
                <a:spcPts val="3358"/>
              </a:lnSpc>
            </a:pPr>
          </a:p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Goal of this step: Create a realistic "damaged" image that we will try to restore</a:t>
            </a:r>
          </a:p>
          <a:p>
            <a:pPr algn="just">
              <a:lnSpc>
                <a:spcPts val="335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089536" y="1355871"/>
            <a:ext cx="16230600" cy="2010265"/>
            <a:chOff x="0" y="0"/>
            <a:chExt cx="9318553" cy="11541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9225843" cy="1061453"/>
            </a:xfrm>
            <a:custGeom>
              <a:avLst/>
              <a:gdLst/>
              <a:ahLst/>
              <a:cxnLst/>
              <a:rect r="r" b="b" t="t" l="l"/>
              <a:pathLst>
                <a:path h="1061453" w="9225843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9251243" cy="1086853"/>
            </a:xfrm>
            <a:custGeom>
              <a:avLst/>
              <a:gdLst/>
              <a:ahLst/>
              <a:cxnLst/>
              <a:rect r="r" b="b" t="t" l="l"/>
              <a:pathLst>
                <a:path h="1086853" w="9251243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9225843" cy="1061453"/>
            </a:xfrm>
            <a:custGeom>
              <a:avLst/>
              <a:gdLst/>
              <a:ahLst/>
              <a:cxnLst/>
              <a:rect r="r" b="b" t="t" l="l"/>
              <a:pathLst>
                <a:path h="1061453" w="9225843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51243" cy="1086853"/>
            </a:xfrm>
            <a:custGeom>
              <a:avLst/>
              <a:gdLst/>
              <a:ahLst/>
              <a:cxnLst/>
              <a:rect r="r" b="b" t="t" l="l"/>
              <a:pathLst>
                <a:path h="1086853" w="9251243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2160" y="3828855"/>
            <a:ext cx="8308381" cy="4837792"/>
            <a:chOff x="0" y="0"/>
            <a:chExt cx="4659276" cy="27129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0010" y="80010"/>
              <a:ext cx="4566566" cy="2620287"/>
            </a:xfrm>
            <a:custGeom>
              <a:avLst/>
              <a:gdLst/>
              <a:ahLst/>
              <a:cxnLst/>
              <a:rect r="r" b="b" t="t" l="l"/>
              <a:pathLst>
                <a:path h="2620287" w="4566566">
                  <a:moveTo>
                    <a:pt x="0" y="2565677"/>
                  </a:moveTo>
                  <a:lnTo>
                    <a:pt x="0" y="2620287"/>
                  </a:lnTo>
                  <a:lnTo>
                    <a:pt x="4566566" y="2620287"/>
                  </a:lnTo>
                  <a:lnTo>
                    <a:pt x="4566566" y="0"/>
                  </a:lnTo>
                  <a:lnTo>
                    <a:pt x="4511957" y="0"/>
                  </a:lnTo>
                  <a:lnTo>
                    <a:pt x="4511957" y="2565677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310" y="67310"/>
              <a:ext cx="4591966" cy="2645687"/>
            </a:xfrm>
            <a:custGeom>
              <a:avLst/>
              <a:gdLst/>
              <a:ahLst/>
              <a:cxnLst/>
              <a:rect r="r" b="b" t="t" l="l"/>
              <a:pathLst>
                <a:path h="2645687" w="4591966">
                  <a:moveTo>
                    <a:pt x="4524657" y="0"/>
                  </a:moveTo>
                  <a:lnTo>
                    <a:pt x="4524657" y="12700"/>
                  </a:lnTo>
                  <a:lnTo>
                    <a:pt x="4579266" y="12700"/>
                  </a:lnTo>
                  <a:lnTo>
                    <a:pt x="4579266" y="2632987"/>
                  </a:lnTo>
                  <a:lnTo>
                    <a:pt x="12700" y="2632987"/>
                  </a:lnTo>
                  <a:lnTo>
                    <a:pt x="12700" y="2578377"/>
                  </a:lnTo>
                  <a:lnTo>
                    <a:pt x="0" y="2578377"/>
                  </a:lnTo>
                  <a:lnTo>
                    <a:pt x="0" y="2645687"/>
                  </a:lnTo>
                  <a:lnTo>
                    <a:pt x="4591966" y="2645687"/>
                  </a:lnTo>
                  <a:lnTo>
                    <a:pt x="459196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4566567" cy="2620287"/>
            </a:xfrm>
            <a:custGeom>
              <a:avLst/>
              <a:gdLst/>
              <a:ahLst/>
              <a:cxnLst/>
              <a:rect r="r" b="b" t="t" l="l"/>
              <a:pathLst>
                <a:path h="2620287" w="4566567">
                  <a:moveTo>
                    <a:pt x="0" y="0"/>
                  </a:moveTo>
                  <a:lnTo>
                    <a:pt x="4566567" y="0"/>
                  </a:lnTo>
                  <a:lnTo>
                    <a:pt x="4566567" y="2620287"/>
                  </a:lnTo>
                  <a:lnTo>
                    <a:pt x="0" y="26202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91967" cy="2645687"/>
            </a:xfrm>
            <a:custGeom>
              <a:avLst/>
              <a:gdLst/>
              <a:ahLst/>
              <a:cxnLst/>
              <a:rect r="r" b="b" t="t" l="l"/>
              <a:pathLst>
                <a:path h="2645687" w="4591967">
                  <a:moveTo>
                    <a:pt x="80010" y="2645687"/>
                  </a:moveTo>
                  <a:lnTo>
                    <a:pt x="4591967" y="2645687"/>
                  </a:lnTo>
                  <a:lnTo>
                    <a:pt x="4591967" y="80010"/>
                  </a:lnTo>
                  <a:lnTo>
                    <a:pt x="4591967" y="67310"/>
                  </a:lnTo>
                  <a:lnTo>
                    <a:pt x="4591967" y="0"/>
                  </a:lnTo>
                  <a:lnTo>
                    <a:pt x="0" y="0"/>
                  </a:lnTo>
                  <a:lnTo>
                    <a:pt x="0" y="2645687"/>
                  </a:lnTo>
                  <a:lnTo>
                    <a:pt x="67310" y="2645687"/>
                  </a:lnTo>
                  <a:lnTo>
                    <a:pt x="80010" y="2645687"/>
                  </a:lnTo>
                  <a:close/>
                  <a:moveTo>
                    <a:pt x="12700" y="12700"/>
                  </a:moveTo>
                  <a:lnTo>
                    <a:pt x="4579267" y="12700"/>
                  </a:lnTo>
                  <a:lnTo>
                    <a:pt x="4579267" y="2632987"/>
                  </a:lnTo>
                  <a:lnTo>
                    <a:pt x="12700" y="263298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97917" y="3817367"/>
            <a:ext cx="8753739" cy="5050290"/>
            <a:chOff x="0" y="0"/>
            <a:chExt cx="5037063" cy="29060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80010" y="80010"/>
              <a:ext cx="4944353" cy="2813320"/>
            </a:xfrm>
            <a:custGeom>
              <a:avLst/>
              <a:gdLst/>
              <a:ahLst/>
              <a:cxnLst/>
              <a:rect r="r" b="b" t="t" l="l"/>
              <a:pathLst>
                <a:path h="2813320" w="4944353">
                  <a:moveTo>
                    <a:pt x="0" y="2758710"/>
                  </a:moveTo>
                  <a:lnTo>
                    <a:pt x="0" y="2813320"/>
                  </a:lnTo>
                  <a:lnTo>
                    <a:pt x="4944353" y="2813320"/>
                  </a:lnTo>
                  <a:lnTo>
                    <a:pt x="4944353" y="0"/>
                  </a:lnTo>
                  <a:lnTo>
                    <a:pt x="4889743" y="0"/>
                  </a:lnTo>
                  <a:lnTo>
                    <a:pt x="4889743" y="2758710"/>
                  </a:lnTo>
                  <a:close/>
                </a:path>
              </a:pathLst>
            </a:custGeom>
            <a:solidFill>
              <a:srgbClr val="DED7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7310" y="67310"/>
              <a:ext cx="4969753" cy="2838720"/>
            </a:xfrm>
            <a:custGeom>
              <a:avLst/>
              <a:gdLst/>
              <a:ahLst/>
              <a:cxnLst/>
              <a:rect r="r" b="b" t="t" l="l"/>
              <a:pathLst>
                <a:path h="2838720" w="4969753">
                  <a:moveTo>
                    <a:pt x="4902443" y="0"/>
                  </a:moveTo>
                  <a:lnTo>
                    <a:pt x="4902443" y="12700"/>
                  </a:lnTo>
                  <a:lnTo>
                    <a:pt x="4957053" y="12700"/>
                  </a:lnTo>
                  <a:lnTo>
                    <a:pt x="4957053" y="2826020"/>
                  </a:lnTo>
                  <a:lnTo>
                    <a:pt x="12700" y="2826020"/>
                  </a:lnTo>
                  <a:lnTo>
                    <a:pt x="12700" y="2771410"/>
                  </a:lnTo>
                  <a:lnTo>
                    <a:pt x="0" y="2771410"/>
                  </a:lnTo>
                  <a:lnTo>
                    <a:pt x="0" y="2838720"/>
                  </a:lnTo>
                  <a:lnTo>
                    <a:pt x="4969753" y="2838720"/>
                  </a:lnTo>
                  <a:lnTo>
                    <a:pt x="496975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4944353" cy="2813320"/>
            </a:xfrm>
            <a:custGeom>
              <a:avLst/>
              <a:gdLst/>
              <a:ahLst/>
              <a:cxnLst/>
              <a:rect r="r" b="b" t="t" l="l"/>
              <a:pathLst>
                <a:path h="2813320" w="4944353">
                  <a:moveTo>
                    <a:pt x="0" y="0"/>
                  </a:moveTo>
                  <a:lnTo>
                    <a:pt x="4944353" y="0"/>
                  </a:lnTo>
                  <a:lnTo>
                    <a:pt x="4944353" y="2813320"/>
                  </a:lnTo>
                  <a:lnTo>
                    <a:pt x="0" y="2813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69753" cy="2838720"/>
            </a:xfrm>
            <a:custGeom>
              <a:avLst/>
              <a:gdLst/>
              <a:ahLst/>
              <a:cxnLst/>
              <a:rect r="r" b="b" t="t" l="l"/>
              <a:pathLst>
                <a:path h="2838720" w="4969753">
                  <a:moveTo>
                    <a:pt x="80010" y="2838720"/>
                  </a:moveTo>
                  <a:lnTo>
                    <a:pt x="4969753" y="2838720"/>
                  </a:lnTo>
                  <a:lnTo>
                    <a:pt x="4969753" y="80010"/>
                  </a:lnTo>
                  <a:lnTo>
                    <a:pt x="4969753" y="67310"/>
                  </a:lnTo>
                  <a:lnTo>
                    <a:pt x="4969753" y="0"/>
                  </a:lnTo>
                  <a:lnTo>
                    <a:pt x="0" y="0"/>
                  </a:lnTo>
                  <a:lnTo>
                    <a:pt x="0" y="2838720"/>
                  </a:lnTo>
                  <a:lnTo>
                    <a:pt x="67310" y="2838720"/>
                  </a:lnTo>
                  <a:lnTo>
                    <a:pt x="80010" y="2838720"/>
                  </a:lnTo>
                  <a:close/>
                  <a:moveTo>
                    <a:pt x="12700" y="12700"/>
                  </a:moveTo>
                  <a:lnTo>
                    <a:pt x="4957053" y="12700"/>
                  </a:lnTo>
                  <a:lnTo>
                    <a:pt x="4957053" y="2826020"/>
                  </a:lnTo>
                  <a:lnTo>
                    <a:pt x="12700" y="282602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239026" y="5966803"/>
            <a:ext cx="7694647" cy="1328955"/>
          </a:xfrm>
          <a:custGeom>
            <a:avLst/>
            <a:gdLst/>
            <a:ahLst/>
            <a:cxnLst/>
            <a:rect r="r" b="b" t="t" l="l"/>
            <a:pathLst>
              <a:path h="1328955" w="7694647">
                <a:moveTo>
                  <a:pt x="0" y="0"/>
                </a:moveTo>
                <a:lnTo>
                  <a:pt x="7694648" y="0"/>
                </a:lnTo>
                <a:lnTo>
                  <a:pt x="7694648" y="1328955"/>
                </a:lnTo>
                <a:lnTo>
                  <a:pt x="0" y="1328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203302" y="5785161"/>
            <a:ext cx="6878631" cy="2096014"/>
          </a:xfrm>
          <a:custGeom>
            <a:avLst/>
            <a:gdLst/>
            <a:ahLst/>
            <a:cxnLst/>
            <a:rect r="r" b="b" t="t" l="l"/>
            <a:pathLst>
              <a:path h="2096014" w="6878631">
                <a:moveTo>
                  <a:pt x="0" y="0"/>
                </a:moveTo>
                <a:lnTo>
                  <a:pt x="6878631" y="0"/>
                </a:lnTo>
                <a:lnTo>
                  <a:pt x="6878631" y="2096014"/>
                </a:lnTo>
                <a:lnTo>
                  <a:pt x="0" y="2096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831383" y="4677536"/>
            <a:ext cx="4972979" cy="33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42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36534" y="1779720"/>
            <a:ext cx="15722766" cy="101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9"/>
              </a:lnSpc>
            </a:pPr>
            <a:r>
              <a:rPr lang="en-US" sz="5666" spc="283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Step 1: Gaussian Blur (Convolution)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9026" y="4533655"/>
            <a:ext cx="7419596" cy="95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3"/>
              </a:lnSpc>
              <a:spcBef>
                <a:spcPct val="0"/>
              </a:spcBef>
            </a:pPr>
            <a:r>
              <a:rPr lang="en-US" b="true" sz="2194" spc="43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For each pixel position, multiply every kernel value with the corresponding overlapping pixel value, then sum all products to produce the new pixel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35435" y="4159169"/>
            <a:ext cx="8115300" cy="137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 spc="48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Convolution slides a small matrix called a kernel across the image. At each position, it multiplies the kernel values with the overlapping pixel values and sums them up to produce a new pixel value.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35435" y="7966900"/>
            <a:ext cx="7814364" cy="62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5"/>
              </a:lnSpc>
              <a:spcBef>
                <a:spcPct val="0"/>
              </a:spcBef>
            </a:pPr>
            <a:r>
              <a:rPr lang="en-US" b="true" sz="2141" spc="42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This kernel gives more weight to the centre pixel and less to the edges, which smooths out random noise spikes.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921743" y="519293"/>
            <a:ext cx="16627643" cy="2295378"/>
            <a:chOff x="0" y="0"/>
            <a:chExt cx="9546509" cy="13178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9453799" cy="1225146"/>
            </a:xfrm>
            <a:custGeom>
              <a:avLst/>
              <a:gdLst/>
              <a:ahLst/>
              <a:cxnLst/>
              <a:rect r="r" b="b" t="t" l="l"/>
              <a:pathLst>
                <a:path h="1225146" w="9453799">
                  <a:moveTo>
                    <a:pt x="0" y="1170537"/>
                  </a:moveTo>
                  <a:lnTo>
                    <a:pt x="0" y="1225146"/>
                  </a:lnTo>
                  <a:lnTo>
                    <a:pt x="9453799" y="1225146"/>
                  </a:lnTo>
                  <a:lnTo>
                    <a:pt x="9453799" y="0"/>
                  </a:lnTo>
                  <a:lnTo>
                    <a:pt x="9399189" y="0"/>
                  </a:lnTo>
                  <a:lnTo>
                    <a:pt x="9399189" y="1170537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9479199" cy="1250546"/>
            </a:xfrm>
            <a:custGeom>
              <a:avLst/>
              <a:gdLst/>
              <a:ahLst/>
              <a:cxnLst/>
              <a:rect r="r" b="b" t="t" l="l"/>
              <a:pathLst>
                <a:path h="1250546" w="9479199">
                  <a:moveTo>
                    <a:pt x="9411889" y="0"/>
                  </a:moveTo>
                  <a:lnTo>
                    <a:pt x="9411889" y="12700"/>
                  </a:lnTo>
                  <a:lnTo>
                    <a:pt x="9466499" y="12700"/>
                  </a:lnTo>
                  <a:lnTo>
                    <a:pt x="9466499" y="1237846"/>
                  </a:lnTo>
                  <a:lnTo>
                    <a:pt x="12700" y="1237846"/>
                  </a:lnTo>
                  <a:lnTo>
                    <a:pt x="12700" y="1183237"/>
                  </a:lnTo>
                  <a:lnTo>
                    <a:pt x="0" y="1183237"/>
                  </a:lnTo>
                  <a:lnTo>
                    <a:pt x="0" y="1250546"/>
                  </a:lnTo>
                  <a:lnTo>
                    <a:pt x="9479199" y="1250546"/>
                  </a:lnTo>
                  <a:lnTo>
                    <a:pt x="947919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9453799" cy="1225147"/>
            </a:xfrm>
            <a:custGeom>
              <a:avLst/>
              <a:gdLst/>
              <a:ahLst/>
              <a:cxnLst/>
              <a:rect r="r" b="b" t="t" l="l"/>
              <a:pathLst>
                <a:path h="1225147" w="9453799">
                  <a:moveTo>
                    <a:pt x="0" y="0"/>
                  </a:moveTo>
                  <a:lnTo>
                    <a:pt x="9453799" y="0"/>
                  </a:lnTo>
                  <a:lnTo>
                    <a:pt x="9453799" y="1225147"/>
                  </a:lnTo>
                  <a:lnTo>
                    <a:pt x="0" y="12251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79199" cy="1250547"/>
            </a:xfrm>
            <a:custGeom>
              <a:avLst/>
              <a:gdLst/>
              <a:ahLst/>
              <a:cxnLst/>
              <a:rect r="r" b="b" t="t" l="l"/>
              <a:pathLst>
                <a:path h="1250547" w="9479199">
                  <a:moveTo>
                    <a:pt x="80010" y="1250547"/>
                  </a:moveTo>
                  <a:lnTo>
                    <a:pt x="9479199" y="1250547"/>
                  </a:lnTo>
                  <a:lnTo>
                    <a:pt x="9479199" y="80010"/>
                  </a:lnTo>
                  <a:lnTo>
                    <a:pt x="9479199" y="67310"/>
                  </a:lnTo>
                  <a:lnTo>
                    <a:pt x="9479199" y="0"/>
                  </a:lnTo>
                  <a:lnTo>
                    <a:pt x="0" y="0"/>
                  </a:lnTo>
                  <a:lnTo>
                    <a:pt x="0" y="1250547"/>
                  </a:lnTo>
                  <a:lnTo>
                    <a:pt x="67310" y="1250547"/>
                  </a:lnTo>
                  <a:lnTo>
                    <a:pt x="80010" y="1250547"/>
                  </a:lnTo>
                  <a:close/>
                  <a:moveTo>
                    <a:pt x="12700" y="12700"/>
                  </a:moveTo>
                  <a:lnTo>
                    <a:pt x="9466499" y="12700"/>
                  </a:lnTo>
                  <a:lnTo>
                    <a:pt x="9466499" y="1237847"/>
                  </a:lnTo>
                  <a:lnTo>
                    <a:pt x="12700" y="123784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3209453"/>
            <a:ext cx="16569191" cy="6470051"/>
            <a:chOff x="0" y="0"/>
            <a:chExt cx="10748599" cy="41971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0010" y="80010"/>
              <a:ext cx="10655888" cy="4104476"/>
            </a:xfrm>
            <a:custGeom>
              <a:avLst/>
              <a:gdLst/>
              <a:ahLst/>
              <a:cxnLst/>
              <a:rect r="r" b="b" t="t" l="l"/>
              <a:pathLst>
                <a:path h="4104476" w="10655888">
                  <a:moveTo>
                    <a:pt x="0" y="4049866"/>
                  </a:moveTo>
                  <a:lnTo>
                    <a:pt x="0" y="4104476"/>
                  </a:lnTo>
                  <a:lnTo>
                    <a:pt x="10655888" y="4104476"/>
                  </a:lnTo>
                  <a:lnTo>
                    <a:pt x="10655888" y="0"/>
                  </a:lnTo>
                  <a:lnTo>
                    <a:pt x="10601278" y="0"/>
                  </a:lnTo>
                  <a:lnTo>
                    <a:pt x="10601278" y="4049866"/>
                  </a:lnTo>
                  <a:close/>
                </a:path>
              </a:pathLst>
            </a:custGeom>
            <a:solidFill>
              <a:srgbClr val="FFF2A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310" y="67310"/>
              <a:ext cx="10681288" cy="4129876"/>
            </a:xfrm>
            <a:custGeom>
              <a:avLst/>
              <a:gdLst/>
              <a:ahLst/>
              <a:cxnLst/>
              <a:rect r="r" b="b" t="t" l="l"/>
              <a:pathLst>
                <a:path h="4129876" w="10681288">
                  <a:moveTo>
                    <a:pt x="10613978" y="0"/>
                  </a:moveTo>
                  <a:lnTo>
                    <a:pt x="10613978" y="12700"/>
                  </a:lnTo>
                  <a:lnTo>
                    <a:pt x="10668588" y="12700"/>
                  </a:lnTo>
                  <a:lnTo>
                    <a:pt x="10668588" y="4117176"/>
                  </a:lnTo>
                  <a:lnTo>
                    <a:pt x="12700" y="4117176"/>
                  </a:lnTo>
                  <a:lnTo>
                    <a:pt x="12700" y="4062566"/>
                  </a:lnTo>
                  <a:lnTo>
                    <a:pt x="0" y="4062566"/>
                  </a:lnTo>
                  <a:lnTo>
                    <a:pt x="0" y="4129876"/>
                  </a:lnTo>
                  <a:lnTo>
                    <a:pt x="10681288" y="4129876"/>
                  </a:lnTo>
                  <a:lnTo>
                    <a:pt x="1068128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10655888" cy="4104476"/>
            </a:xfrm>
            <a:custGeom>
              <a:avLst/>
              <a:gdLst/>
              <a:ahLst/>
              <a:cxnLst/>
              <a:rect r="r" b="b" t="t" l="l"/>
              <a:pathLst>
                <a:path h="4104476" w="10655888">
                  <a:moveTo>
                    <a:pt x="0" y="0"/>
                  </a:moveTo>
                  <a:lnTo>
                    <a:pt x="10655888" y="0"/>
                  </a:lnTo>
                  <a:lnTo>
                    <a:pt x="10655888" y="4104476"/>
                  </a:lnTo>
                  <a:lnTo>
                    <a:pt x="0" y="41044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81288" cy="4129876"/>
            </a:xfrm>
            <a:custGeom>
              <a:avLst/>
              <a:gdLst/>
              <a:ahLst/>
              <a:cxnLst/>
              <a:rect r="r" b="b" t="t" l="l"/>
              <a:pathLst>
                <a:path h="4129876" w="10681288">
                  <a:moveTo>
                    <a:pt x="80010" y="4129876"/>
                  </a:moveTo>
                  <a:lnTo>
                    <a:pt x="10681288" y="4129876"/>
                  </a:lnTo>
                  <a:lnTo>
                    <a:pt x="10681288" y="80010"/>
                  </a:lnTo>
                  <a:lnTo>
                    <a:pt x="10681288" y="67310"/>
                  </a:lnTo>
                  <a:lnTo>
                    <a:pt x="10681288" y="0"/>
                  </a:lnTo>
                  <a:lnTo>
                    <a:pt x="0" y="0"/>
                  </a:lnTo>
                  <a:lnTo>
                    <a:pt x="0" y="4129876"/>
                  </a:lnTo>
                  <a:lnTo>
                    <a:pt x="67310" y="4129876"/>
                  </a:lnTo>
                  <a:lnTo>
                    <a:pt x="80010" y="4129876"/>
                  </a:lnTo>
                  <a:close/>
                  <a:moveTo>
                    <a:pt x="12700" y="12700"/>
                  </a:moveTo>
                  <a:lnTo>
                    <a:pt x="10668588" y="12700"/>
                  </a:lnTo>
                  <a:lnTo>
                    <a:pt x="10668588" y="4117176"/>
                  </a:lnTo>
                  <a:lnTo>
                    <a:pt x="12700" y="4117176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6810327" y="5812161"/>
            <a:ext cx="3780890" cy="3694405"/>
          </a:xfrm>
          <a:custGeom>
            <a:avLst/>
            <a:gdLst/>
            <a:ahLst/>
            <a:cxnLst/>
            <a:rect r="r" b="b" t="t" l="l"/>
            <a:pathLst>
              <a:path h="3694405" w="3780890">
                <a:moveTo>
                  <a:pt x="0" y="0"/>
                </a:moveTo>
                <a:lnTo>
                  <a:pt x="3780891" y="0"/>
                </a:lnTo>
                <a:lnTo>
                  <a:pt x="3780891" y="3694404"/>
                </a:lnTo>
                <a:lnTo>
                  <a:pt x="0" y="3694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20" t="-1977" r="0" b="-13916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162718" y="5812161"/>
            <a:ext cx="3611645" cy="3694405"/>
          </a:xfrm>
          <a:custGeom>
            <a:avLst/>
            <a:gdLst/>
            <a:ahLst/>
            <a:cxnLst/>
            <a:rect r="r" b="b" t="t" l="l"/>
            <a:pathLst>
              <a:path h="3694405" w="3611645">
                <a:moveTo>
                  <a:pt x="0" y="0"/>
                </a:moveTo>
                <a:lnTo>
                  <a:pt x="3611645" y="0"/>
                </a:lnTo>
                <a:lnTo>
                  <a:pt x="3611645" y="3694404"/>
                </a:lnTo>
                <a:lnTo>
                  <a:pt x="0" y="3694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46" t="0" r="0" b="-7033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794372" y="5888798"/>
            <a:ext cx="3444419" cy="3541130"/>
          </a:xfrm>
          <a:custGeom>
            <a:avLst/>
            <a:gdLst/>
            <a:ahLst/>
            <a:cxnLst/>
            <a:rect r="r" b="b" t="t" l="l"/>
            <a:pathLst>
              <a:path h="3541130" w="3444419">
                <a:moveTo>
                  <a:pt x="0" y="0"/>
                </a:moveTo>
                <a:lnTo>
                  <a:pt x="3444419" y="0"/>
                </a:lnTo>
                <a:lnTo>
                  <a:pt x="3444419" y="3541130"/>
                </a:lnTo>
                <a:lnTo>
                  <a:pt x="0" y="354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61824" y="3422965"/>
            <a:ext cx="4446503" cy="87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8"/>
              </a:lnSpc>
            </a:pPr>
            <a:r>
              <a:rPr lang="en-US" sz="216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Why does this reduce noise?</a:t>
            </a:r>
          </a:p>
          <a:p>
            <a:pPr algn="ctr">
              <a:lnSpc>
                <a:spcPts val="2278"/>
              </a:lnSpc>
            </a:pPr>
          </a:p>
          <a:p>
            <a:pPr algn="ctr">
              <a:lnSpc>
                <a:spcPts val="2278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467531" y="3874767"/>
            <a:ext cx="15265201" cy="8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5"/>
              </a:lnSpc>
            </a:pPr>
            <a:r>
              <a:rPr lang="en-US" sz="2100" b="true">
                <a:solidFill>
                  <a:srgbClr val="000000"/>
                </a:solidFill>
                <a:latin typeface="TT Drugs Bold"/>
                <a:ea typeface="TT Drugs Bold"/>
                <a:cs typeface="TT Drugs Bold"/>
                <a:sym typeface="TT Drugs Bold"/>
              </a:rPr>
              <a:t>Random noise affects individual pixels independently. Averaging each pixel with its neighbours cancels out those random spikes — because noise in one pixel is unlikely to match noise in adjacent pixels.</a:t>
            </a:r>
          </a:p>
          <a:p>
            <a:pPr algn="l">
              <a:lnSpc>
                <a:spcPts val="2205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21743" y="4685882"/>
            <a:ext cx="2404881" cy="602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2"/>
              </a:lnSpc>
            </a:pPr>
            <a:r>
              <a:rPr lang="en-US" sz="2145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Trade-off</a:t>
            </a:r>
          </a:p>
          <a:p>
            <a:pPr algn="ctr">
              <a:lnSpc>
                <a:spcPts val="2252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467531" y="5162550"/>
            <a:ext cx="15022892" cy="819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3"/>
              </a:lnSpc>
            </a:pPr>
            <a:r>
              <a:rPr lang="en-US" sz="2031" b="true">
                <a:solidFill>
                  <a:srgbClr val="000000"/>
                </a:solidFill>
                <a:latin typeface="TT Drugs Bold"/>
                <a:ea typeface="TT Drugs Bold"/>
                <a:cs typeface="TT Drugs Bold"/>
                <a:sym typeface="TT Drugs Bold"/>
              </a:rPr>
              <a:t>Blurring reduces noise but also reduces sharpness. Fine edges and details get slightly smoothed. The next step attempts to recover some of that detail using linear system solving</a:t>
            </a:r>
          </a:p>
          <a:p>
            <a:pPr algn="l">
              <a:lnSpc>
                <a:spcPts val="2133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322039"/>
            <a:ext cx="15722766" cy="101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9"/>
              </a:lnSpc>
            </a:pPr>
            <a:r>
              <a:rPr lang="en-US" sz="5666" spc="283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Step 1: Gaussian Blur (Continued...)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891015" y="3060914"/>
            <a:ext cx="16489958" cy="7226086"/>
            <a:chOff x="0" y="0"/>
            <a:chExt cx="9467459" cy="41487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9374749" cy="4056038"/>
            </a:xfrm>
            <a:custGeom>
              <a:avLst/>
              <a:gdLst/>
              <a:ahLst/>
              <a:cxnLst/>
              <a:rect r="r" b="b" t="t" l="l"/>
              <a:pathLst>
                <a:path h="4056038" w="9374749">
                  <a:moveTo>
                    <a:pt x="0" y="4001427"/>
                  </a:moveTo>
                  <a:lnTo>
                    <a:pt x="0" y="4056038"/>
                  </a:lnTo>
                  <a:lnTo>
                    <a:pt x="9374749" y="4056038"/>
                  </a:lnTo>
                  <a:lnTo>
                    <a:pt x="9374749" y="0"/>
                  </a:lnTo>
                  <a:lnTo>
                    <a:pt x="9320139" y="0"/>
                  </a:lnTo>
                  <a:lnTo>
                    <a:pt x="9320139" y="4001427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9400149" cy="4081438"/>
            </a:xfrm>
            <a:custGeom>
              <a:avLst/>
              <a:gdLst/>
              <a:ahLst/>
              <a:cxnLst/>
              <a:rect r="r" b="b" t="t" l="l"/>
              <a:pathLst>
                <a:path h="4081438" w="9400149">
                  <a:moveTo>
                    <a:pt x="9332839" y="0"/>
                  </a:moveTo>
                  <a:lnTo>
                    <a:pt x="9332839" y="12700"/>
                  </a:lnTo>
                  <a:lnTo>
                    <a:pt x="9387449" y="12700"/>
                  </a:lnTo>
                  <a:lnTo>
                    <a:pt x="9387449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9400149" y="4081438"/>
                  </a:lnTo>
                  <a:lnTo>
                    <a:pt x="940014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9374749" cy="4056037"/>
            </a:xfrm>
            <a:custGeom>
              <a:avLst/>
              <a:gdLst/>
              <a:ahLst/>
              <a:cxnLst/>
              <a:rect r="r" b="b" t="t" l="l"/>
              <a:pathLst>
                <a:path h="4056037" w="9374749">
                  <a:moveTo>
                    <a:pt x="0" y="0"/>
                  </a:moveTo>
                  <a:lnTo>
                    <a:pt x="9374749" y="0"/>
                  </a:lnTo>
                  <a:lnTo>
                    <a:pt x="9374749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00149" cy="4081437"/>
            </a:xfrm>
            <a:custGeom>
              <a:avLst/>
              <a:gdLst/>
              <a:ahLst/>
              <a:cxnLst/>
              <a:rect r="r" b="b" t="t" l="l"/>
              <a:pathLst>
                <a:path h="4081437" w="9400149">
                  <a:moveTo>
                    <a:pt x="80010" y="4081437"/>
                  </a:moveTo>
                  <a:lnTo>
                    <a:pt x="9400149" y="4081437"/>
                  </a:lnTo>
                  <a:lnTo>
                    <a:pt x="9400149" y="80010"/>
                  </a:lnTo>
                  <a:lnTo>
                    <a:pt x="9400149" y="67310"/>
                  </a:lnTo>
                  <a:lnTo>
                    <a:pt x="9400149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9387449" y="12700"/>
                  </a:lnTo>
                  <a:lnTo>
                    <a:pt x="9387449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91015" y="321041"/>
            <a:ext cx="16627643" cy="2295378"/>
            <a:chOff x="0" y="0"/>
            <a:chExt cx="9546509" cy="13178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0010" y="80010"/>
              <a:ext cx="9453799" cy="1225146"/>
            </a:xfrm>
            <a:custGeom>
              <a:avLst/>
              <a:gdLst/>
              <a:ahLst/>
              <a:cxnLst/>
              <a:rect r="r" b="b" t="t" l="l"/>
              <a:pathLst>
                <a:path h="1225146" w="9453799">
                  <a:moveTo>
                    <a:pt x="0" y="1170537"/>
                  </a:moveTo>
                  <a:lnTo>
                    <a:pt x="0" y="1225146"/>
                  </a:lnTo>
                  <a:lnTo>
                    <a:pt x="9453799" y="1225146"/>
                  </a:lnTo>
                  <a:lnTo>
                    <a:pt x="9453799" y="0"/>
                  </a:lnTo>
                  <a:lnTo>
                    <a:pt x="9399189" y="0"/>
                  </a:lnTo>
                  <a:lnTo>
                    <a:pt x="9399189" y="1170537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310" y="67310"/>
              <a:ext cx="9479199" cy="1250546"/>
            </a:xfrm>
            <a:custGeom>
              <a:avLst/>
              <a:gdLst/>
              <a:ahLst/>
              <a:cxnLst/>
              <a:rect r="r" b="b" t="t" l="l"/>
              <a:pathLst>
                <a:path h="1250546" w="9479199">
                  <a:moveTo>
                    <a:pt x="9411889" y="0"/>
                  </a:moveTo>
                  <a:lnTo>
                    <a:pt x="9411889" y="12700"/>
                  </a:lnTo>
                  <a:lnTo>
                    <a:pt x="9466499" y="12700"/>
                  </a:lnTo>
                  <a:lnTo>
                    <a:pt x="9466499" y="1237846"/>
                  </a:lnTo>
                  <a:lnTo>
                    <a:pt x="12700" y="1237846"/>
                  </a:lnTo>
                  <a:lnTo>
                    <a:pt x="12700" y="1183237"/>
                  </a:lnTo>
                  <a:lnTo>
                    <a:pt x="0" y="1183237"/>
                  </a:lnTo>
                  <a:lnTo>
                    <a:pt x="0" y="1250546"/>
                  </a:lnTo>
                  <a:lnTo>
                    <a:pt x="9479199" y="1250546"/>
                  </a:lnTo>
                  <a:lnTo>
                    <a:pt x="947919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9453799" cy="1225147"/>
            </a:xfrm>
            <a:custGeom>
              <a:avLst/>
              <a:gdLst/>
              <a:ahLst/>
              <a:cxnLst/>
              <a:rect r="r" b="b" t="t" l="l"/>
              <a:pathLst>
                <a:path h="1225147" w="9453799">
                  <a:moveTo>
                    <a:pt x="0" y="0"/>
                  </a:moveTo>
                  <a:lnTo>
                    <a:pt x="9453799" y="0"/>
                  </a:lnTo>
                  <a:lnTo>
                    <a:pt x="9453799" y="1225147"/>
                  </a:lnTo>
                  <a:lnTo>
                    <a:pt x="0" y="12251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79199" cy="1250547"/>
            </a:xfrm>
            <a:custGeom>
              <a:avLst/>
              <a:gdLst/>
              <a:ahLst/>
              <a:cxnLst/>
              <a:rect r="r" b="b" t="t" l="l"/>
              <a:pathLst>
                <a:path h="1250547" w="9479199">
                  <a:moveTo>
                    <a:pt x="80010" y="1250547"/>
                  </a:moveTo>
                  <a:lnTo>
                    <a:pt x="9479199" y="1250547"/>
                  </a:lnTo>
                  <a:lnTo>
                    <a:pt x="9479199" y="80010"/>
                  </a:lnTo>
                  <a:lnTo>
                    <a:pt x="9479199" y="67310"/>
                  </a:lnTo>
                  <a:lnTo>
                    <a:pt x="9479199" y="0"/>
                  </a:lnTo>
                  <a:lnTo>
                    <a:pt x="0" y="0"/>
                  </a:lnTo>
                  <a:lnTo>
                    <a:pt x="0" y="1250547"/>
                  </a:lnTo>
                  <a:lnTo>
                    <a:pt x="67310" y="1250547"/>
                  </a:lnTo>
                  <a:lnTo>
                    <a:pt x="80010" y="1250547"/>
                  </a:lnTo>
                  <a:close/>
                  <a:moveTo>
                    <a:pt x="12700" y="12700"/>
                  </a:moveTo>
                  <a:lnTo>
                    <a:pt x="9466499" y="12700"/>
                  </a:lnTo>
                  <a:lnTo>
                    <a:pt x="9466499" y="1237847"/>
                  </a:lnTo>
                  <a:lnTo>
                    <a:pt x="12700" y="123784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1481515" y="5750802"/>
            <a:ext cx="5583034" cy="3493210"/>
          </a:xfrm>
          <a:custGeom>
            <a:avLst/>
            <a:gdLst/>
            <a:ahLst/>
            <a:cxnLst/>
            <a:rect r="r" b="b" t="t" l="l"/>
            <a:pathLst>
              <a:path h="3493210" w="5583034">
                <a:moveTo>
                  <a:pt x="0" y="0"/>
                </a:moveTo>
                <a:lnTo>
                  <a:pt x="5583034" y="0"/>
                </a:lnTo>
                <a:lnTo>
                  <a:pt x="5583034" y="3493210"/>
                </a:lnTo>
                <a:lnTo>
                  <a:pt x="0" y="3493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05434" y="3494123"/>
            <a:ext cx="6340821" cy="478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5"/>
              </a:lnSpc>
            </a:pPr>
            <a:r>
              <a:rPr lang="en-US" b="true" sz="274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Turning Reconstruction into Ax = 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2617" y="887445"/>
            <a:ext cx="15722766" cy="101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9"/>
              </a:lnSpc>
            </a:pPr>
            <a:r>
              <a:rPr lang="en-US" sz="5666" spc="283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Step 2: Linear System Setup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8982" y="4081462"/>
            <a:ext cx="9388197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537" indent="-291268" lvl="1">
              <a:lnSpc>
                <a:spcPts val="3237"/>
              </a:lnSpc>
              <a:buFont typeface="Arial"/>
              <a:buChar char="•"/>
            </a:pPr>
            <a:r>
              <a:rPr lang="en-US" sz="26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Blurring is a linear operation — it can be written as Ax = b</a:t>
            </a:r>
          </a:p>
          <a:p>
            <a:pPr algn="l" marL="1165073" indent="-388358" lvl="2">
              <a:lnSpc>
                <a:spcPts val="3237"/>
              </a:lnSpc>
              <a:buFont typeface="Arial"/>
              <a:buChar char="⚬"/>
            </a:pPr>
            <a:r>
              <a:rPr lang="en-US" sz="26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b = blurred image row (known)</a:t>
            </a:r>
          </a:p>
          <a:p>
            <a:pPr algn="l" marL="1165073" indent="-388358" lvl="2">
              <a:lnSpc>
                <a:spcPts val="3237"/>
              </a:lnSpc>
              <a:buFont typeface="Arial"/>
              <a:buChar char="⚬"/>
            </a:pPr>
            <a:r>
              <a:rPr lang="en-US" sz="26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x = original image row (unknown)</a:t>
            </a:r>
          </a:p>
          <a:p>
            <a:pPr algn="l" marL="1165073" indent="-388358" lvl="2">
              <a:lnSpc>
                <a:spcPts val="3237"/>
              </a:lnSpc>
              <a:buFont typeface="Arial"/>
              <a:buChar char="⚬"/>
            </a:pPr>
            <a:r>
              <a:rPr lang="en-US" sz="26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 = tridiagonal matrix built from the blur kernel </a:t>
            </a:r>
          </a:p>
          <a:p>
            <a:pPr algn="l">
              <a:lnSpc>
                <a:spcPts val="3237"/>
              </a:lnSpc>
            </a:pPr>
          </a:p>
          <a:p>
            <a:pPr algn="l">
              <a:lnSpc>
                <a:spcPts val="3237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568982" y="6548437"/>
            <a:ext cx="9912533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589" indent="-237295" lvl="1">
              <a:lnSpc>
                <a:spcPts val="2637"/>
              </a:lnSpc>
              <a:buFont typeface="Arial"/>
              <a:buChar char="•"/>
            </a:pPr>
            <a:r>
              <a:rPr lang="en-US" sz="21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 1D Ga</a:t>
            </a:r>
            <a:r>
              <a:rPr lang="en-US" sz="21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ussian kernel middle row is [1, 2, 1] / 4 = [0.25, 0.5, 0.25], meaning:</a:t>
            </a:r>
          </a:p>
          <a:p>
            <a:pPr algn="l" marL="949178" indent="-316393" lvl="2">
              <a:lnSpc>
                <a:spcPts val="2637"/>
              </a:lnSpc>
              <a:buFont typeface="Arial"/>
              <a:buChar char="⚬"/>
            </a:pPr>
            <a:r>
              <a:rPr lang="en-US" sz="21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each pixel = 0.25 × left neighbour + 0.5 × itself + 0.25 × right neighbour</a:t>
            </a:r>
          </a:p>
          <a:p>
            <a:pPr algn="l" marL="474589" indent="-237295" lvl="1">
              <a:lnSpc>
                <a:spcPts val="2637"/>
              </a:lnSpc>
              <a:buFont typeface="Arial"/>
              <a:buChar char="•"/>
            </a:pPr>
            <a:r>
              <a:rPr lang="en-US" sz="21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This relationship becomes a tridiagonal matrix A of size (100×100):</a:t>
            </a:r>
          </a:p>
          <a:p>
            <a:pPr algn="l" marL="949178" indent="-316393" lvl="2">
              <a:lnSpc>
                <a:spcPts val="2637"/>
              </a:lnSpc>
              <a:buFont typeface="Arial"/>
              <a:buChar char="⚬"/>
            </a:pPr>
            <a:r>
              <a:rPr lang="en-US" sz="21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Main diagonal = 0.5 (centre pixel weight)</a:t>
            </a:r>
          </a:p>
          <a:p>
            <a:pPr algn="l" marL="949178" indent="-316393" lvl="2">
              <a:lnSpc>
                <a:spcPts val="2637"/>
              </a:lnSpc>
              <a:buFont typeface="Arial"/>
              <a:buChar char="⚬"/>
            </a:pPr>
            <a:r>
              <a:rPr lang="en-US" sz="21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Off-diagonals = 0.25 (neighbour weights)</a:t>
            </a:r>
          </a:p>
          <a:p>
            <a:pPr algn="l" marL="474589" indent="-237295" lvl="1">
              <a:lnSpc>
                <a:spcPts val="2637"/>
              </a:lnSpc>
              <a:buFont typeface="Arial"/>
              <a:buChar char="•"/>
            </a:pPr>
            <a:r>
              <a:rPr lang="en-US" sz="21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Solving Ax = b with this A undoes exactly what the blur did — row by row across the image.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05434" y="6055602"/>
            <a:ext cx="6340821" cy="478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5"/>
              </a:lnSpc>
            </a:pPr>
            <a:r>
              <a:rPr lang="en-US" b="true" sz="274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Building Tridiagonal matrix 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089536" y="494741"/>
            <a:ext cx="16230600" cy="2768059"/>
            <a:chOff x="0" y="0"/>
            <a:chExt cx="9318553" cy="15892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1441919"/>
                  </a:moveTo>
                  <a:lnTo>
                    <a:pt x="0" y="1496529"/>
                  </a:lnTo>
                  <a:lnTo>
                    <a:pt x="9225843" y="1496529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441919"/>
                  </a:lnTo>
                  <a:close/>
                </a:path>
              </a:pathLst>
            </a:custGeom>
            <a:solidFill>
              <a:srgbClr val="FFA79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454619"/>
                  </a:lnTo>
                  <a:lnTo>
                    <a:pt x="0" y="1454619"/>
                  </a:lnTo>
                  <a:lnTo>
                    <a:pt x="0" y="1521929"/>
                  </a:lnTo>
                  <a:lnTo>
                    <a:pt x="9251243" y="1521929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0"/>
                  </a:moveTo>
                  <a:lnTo>
                    <a:pt x="9225843" y="0"/>
                  </a:lnTo>
                  <a:lnTo>
                    <a:pt x="9225843" y="1496529"/>
                  </a:lnTo>
                  <a:lnTo>
                    <a:pt x="0" y="14965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80010" y="1521929"/>
                  </a:moveTo>
                  <a:lnTo>
                    <a:pt x="9251243" y="1521929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521929"/>
                  </a:lnTo>
                  <a:lnTo>
                    <a:pt x="67310" y="1521929"/>
                  </a:lnTo>
                  <a:lnTo>
                    <a:pt x="80010" y="1521929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19175" y="3489567"/>
            <a:ext cx="16230600" cy="6629859"/>
            <a:chOff x="0" y="0"/>
            <a:chExt cx="10748599" cy="43905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0010" y="80010"/>
              <a:ext cx="10655888" cy="4297866"/>
            </a:xfrm>
            <a:custGeom>
              <a:avLst/>
              <a:gdLst/>
              <a:ahLst/>
              <a:cxnLst/>
              <a:rect r="r" b="b" t="t" l="l"/>
              <a:pathLst>
                <a:path h="4297866" w="10655888">
                  <a:moveTo>
                    <a:pt x="0" y="4243256"/>
                  </a:moveTo>
                  <a:lnTo>
                    <a:pt x="0" y="4297866"/>
                  </a:lnTo>
                  <a:lnTo>
                    <a:pt x="10655888" y="4297866"/>
                  </a:lnTo>
                  <a:lnTo>
                    <a:pt x="10655888" y="0"/>
                  </a:lnTo>
                  <a:lnTo>
                    <a:pt x="10601278" y="0"/>
                  </a:lnTo>
                  <a:lnTo>
                    <a:pt x="10601278" y="4243256"/>
                  </a:lnTo>
                  <a:close/>
                </a:path>
              </a:pathLst>
            </a:custGeom>
            <a:solidFill>
              <a:srgbClr val="FFA79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310" y="67310"/>
              <a:ext cx="10681288" cy="4323266"/>
            </a:xfrm>
            <a:custGeom>
              <a:avLst/>
              <a:gdLst/>
              <a:ahLst/>
              <a:cxnLst/>
              <a:rect r="r" b="b" t="t" l="l"/>
              <a:pathLst>
                <a:path h="4323266" w="10681288">
                  <a:moveTo>
                    <a:pt x="10613978" y="0"/>
                  </a:moveTo>
                  <a:lnTo>
                    <a:pt x="10613978" y="12700"/>
                  </a:lnTo>
                  <a:lnTo>
                    <a:pt x="10668588" y="12700"/>
                  </a:lnTo>
                  <a:lnTo>
                    <a:pt x="10668588" y="4310566"/>
                  </a:lnTo>
                  <a:lnTo>
                    <a:pt x="12700" y="4310566"/>
                  </a:lnTo>
                  <a:lnTo>
                    <a:pt x="12700" y="4255956"/>
                  </a:lnTo>
                  <a:lnTo>
                    <a:pt x="0" y="4255956"/>
                  </a:lnTo>
                  <a:lnTo>
                    <a:pt x="0" y="4323266"/>
                  </a:lnTo>
                  <a:lnTo>
                    <a:pt x="10681288" y="4323266"/>
                  </a:lnTo>
                  <a:lnTo>
                    <a:pt x="1068128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10655888" cy="4297866"/>
            </a:xfrm>
            <a:custGeom>
              <a:avLst/>
              <a:gdLst/>
              <a:ahLst/>
              <a:cxnLst/>
              <a:rect r="r" b="b" t="t" l="l"/>
              <a:pathLst>
                <a:path h="4297866" w="10655888">
                  <a:moveTo>
                    <a:pt x="0" y="0"/>
                  </a:moveTo>
                  <a:lnTo>
                    <a:pt x="10655888" y="0"/>
                  </a:lnTo>
                  <a:lnTo>
                    <a:pt x="10655888" y="4297866"/>
                  </a:lnTo>
                  <a:lnTo>
                    <a:pt x="0" y="42978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81288" cy="4323266"/>
            </a:xfrm>
            <a:custGeom>
              <a:avLst/>
              <a:gdLst/>
              <a:ahLst/>
              <a:cxnLst/>
              <a:rect r="r" b="b" t="t" l="l"/>
              <a:pathLst>
                <a:path h="4323266" w="10681288">
                  <a:moveTo>
                    <a:pt x="80010" y="4323266"/>
                  </a:moveTo>
                  <a:lnTo>
                    <a:pt x="10681288" y="4323266"/>
                  </a:lnTo>
                  <a:lnTo>
                    <a:pt x="10681288" y="80010"/>
                  </a:lnTo>
                  <a:lnTo>
                    <a:pt x="10681288" y="67310"/>
                  </a:lnTo>
                  <a:lnTo>
                    <a:pt x="10681288" y="0"/>
                  </a:lnTo>
                  <a:lnTo>
                    <a:pt x="0" y="0"/>
                  </a:lnTo>
                  <a:lnTo>
                    <a:pt x="0" y="4323266"/>
                  </a:lnTo>
                  <a:lnTo>
                    <a:pt x="67310" y="4323266"/>
                  </a:lnTo>
                  <a:lnTo>
                    <a:pt x="80010" y="4323266"/>
                  </a:lnTo>
                  <a:close/>
                  <a:moveTo>
                    <a:pt x="12700" y="12700"/>
                  </a:moveTo>
                  <a:lnTo>
                    <a:pt x="10668588" y="12700"/>
                  </a:lnTo>
                  <a:lnTo>
                    <a:pt x="10668588" y="4310566"/>
                  </a:lnTo>
                  <a:lnTo>
                    <a:pt x="12700" y="4310566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3489567"/>
            <a:ext cx="16142863" cy="632973"/>
            <a:chOff x="0" y="0"/>
            <a:chExt cx="118125963" cy="46318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72390" y="72390"/>
              <a:ext cx="117981179" cy="4487024"/>
            </a:xfrm>
            <a:custGeom>
              <a:avLst/>
              <a:gdLst/>
              <a:ahLst/>
              <a:cxnLst/>
              <a:rect r="r" b="b" t="t" l="l"/>
              <a:pathLst>
                <a:path h="4487024" w="117981179">
                  <a:moveTo>
                    <a:pt x="0" y="0"/>
                  </a:moveTo>
                  <a:lnTo>
                    <a:pt x="117981179" y="0"/>
                  </a:lnTo>
                  <a:lnTo>
                    <a:pt x="117981179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794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125962" cy="4631804"/>
            </a:xfrm>
            <a:custGeom>
              <a:avLst/>
              <a:gdLst/>
              <a:ahLst/>
              <a:cxnLst/>
              <a:rect r="r" b="b" t="t" l="l"/>
              <a:pathLst>
                <a:path h="4631804" w="118125962">
                  <a:moveTo>
                    <a:pt x="117981189" y="4487024"/>
                  </a:moveTo>
                  <a:lnTo>
                    <a:pt x="118125962" y="4487024"/>
                  </a:lnTo>
                  <a:lnTo>
                    <a:pt x="118125962" y="4631804"/>
                  </a:lnTo>
                  <a:lnTo>
                    <a:pt x="117981189" y="4631804"/>
                  </a:lnTo>
                  <a:lnTo>
                    <a:pt x="117981189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117981189" y="144780"/>
                  </a:moveTo>
                  <a:lnTo>
                    <a:pt x="118125962" y="144780"/>
                  </a:lnTo>
                  <a:lnTo>
                    <a:pt x="118125962" y="4487024"/>
                  </a:lnTo>
                  <a:lnTo>
                    <a:pt x="117981189" y="4487024"/>
                  </a:lnTo>
                  <a:lnTo>
                    <a:pt x="117981189" y="144780"/>
                  </a:lnTo>
                  <a:close/>
                  <a:moveTo>
                    <a:pt x="144780" y="4487024"/>
                  </a:moveTo>
                  <a:lnTo>
                    <a:pt x="117981189" y="4487024"/>
                  </a:lnTo>
                  <a:lnTo>
                    <a:pt x="117981189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117981189" y="0"/>
                  </a:moveTo>
                  <a:lnTo>
                    <a:pt x="118125962" y="0"/>
                  </a:lnTo>
                  <a:lnTo>
                    <a:pt x="118125962" y="144780"/>
                  </a:lnTo>
                  <a:lnTo>
                    <a:pt x="117981189" y="144780"/>
                  </a:lnTo>
                  <a:lnTo>
                    <a:pt x="11798118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7981189" y="0"/>
                  </a:lnTo>
                  <a:lnTo>
                    <a:pt x="11798118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51077" y="3749357"/>
            <a:ext cx="1040736" cy="242434"/>
            <a:chOff x="0" y="0"/>
            <a:chExt cx="1387648" cy="323246"/>
          </a:xfrm>
        </p:grpSpPr>
        <p:grpSp>
          <p:nvGrpSpPr>
            <p:cNvPr name="Group 22" id="22"/>
            <p:cNvGrpSpPr>
              <a:grpSpLocks noChangeAspect="true"/>
            </p:cNvGrpSpPr>
            <p:nvPr/>
          </p:nvGrpSpPr>
          <p:grpSpPr>
            <a:xfrm rot="0">
              <a:off x="1068722" y="4321"/>
              <a:ext cx="318925" cy="318925"/>
              <a:chOff x="0" y="0"/>
              <a:chExt cx="495300" cy="4953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</p:spPr>
          </p:sp>
        </p:grp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548378" y="0"/>
              <a:ext cx="318925" cy="318925"/>
              <a:chOff x="0" y="0"/>
              <a:chExt cx="495300" cy="4953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</p:spPr>
          </p:sp>
        </p:grpSp>
        <p:grpSp>
          <p:nvGrpSpPr>
            <p:cNvPr name="Group 28" id="28"/>
            <p:cNvGrpSpPr>
              <a:grpSpLocks noChangeAspect="true"/>
            </p:cNvGrpSpPr>
            <p:nvPr/>
          </p:nvGrpSpPr>
          <p:grpSpPr>
            <a:xfrm rot="0">
              <a:off x="0" y="0"/>
              <a:ext cx="318925" cy="318925"/>
              <a:chOff x="0" y="0"/>
              <a:chExt cx="495300" cy="4953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</p:spPr>
          </p:sp>
        </p:grpSp>
      </p:grpSp>
      <p:sp>
        <p:nvSpPr>
          <p:cNvPr name="Freeform 31" id="31"/>
          <p:cNvSpPr/>
          <p:nvPr/>
        </p:nvSpPr>
        <p:spPr>
          <a:xfrm flipH="false" flipV="false" rot="0">
            <a:off x="9204836" y="4566789"/>
            <a:ext cx="7710257" cy="3856509"/>
          </a:xfrm>
          <a:custGeom>
            <a:avLst/>
            <a:gdLst/>
            <a:ahLst/>
            <a:cxnLst/>
            <a:rect r="r" b="b" t="t" l="l"/>
            <a:pathLst>
              <a:path h="3856509" w="7710257">
                <a:moveTo>
                  <a:pt x="0" y="0"/>
                </a:moveTo>
                <a:lnTo>
                  <a:pt x="7710257" y="0"/>
                </a:lnTo>
                <a:lnTo>
                  <a:pt x="7710257" y="3856509"/>
                </a:lnTo>
                <a:lnTo>
                  <a:pt x="0" y="38565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713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51077" y="1470267"/>
            <a:ext cx="16936923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00" spc="17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Part (i): Full Image Reconstruction using LU Decomposition</a:t>
            </a:r>
          </a:p>
          <a:p>
            <a:pPr algn="l">
              <a:lnSpc>
                <a:spcPts val="432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120076" y="4557264"/>
            <a:ext cx="9110549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126" indent="-302063" lvl="1">
              <a:lnSpc>
                <a:spcPts val="3357"/>
              </a:lnSpc>
              <a:buFont typeface="Arial"/>
              <a:buChar char="•"/>
            </a:pPr>
            <a:r>
              <a:rPr lang="en-US" b="true" sz="27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LU factorises A into three matrices: A = P · L · U</a:t>
            </a:r>
          </a:p>
          <a:p>
            <a:pPr algn="l" marL="604126" indent="-302063" lvl="1">
              <a:lnSpc>
                <a:spcPts val="3357"/>
              </a:lnSpc>
              <a:buFont typeface="Arial"/>
              <a:buChar char="•"/>
            </a:pPr>
            <a:r>
              <a:rPr lang="en-US" b="true" sz="27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 = permutation (row reordering for stability)</a:t>
            </a:r>
          </a:p>
          <a:p>
            <a:pPr algn="l" marL="604126" indent="-302063" lvl="1">
              <a:lnSpc>
                <a:spcPts val="3357"/>
              </a:lnSpc>
              <a:buFont typeface="Arial"/>
              <a:buChar char="•"/>
            </a:pPr>
            <a:r>
              <a:rPr lang="en-US" b="true" sz="27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L = lower triangular (forward elimination)</a:t>
            </a:r>
          </a:p>
          <a:p>
            <a:pPr algn="l" marL="604126" indent="-302063" lvl="1">
              <a:lnSpc>
                <a:spcPts val="3357"/>
              </a:lnSpc>
              <a:buFont typeface="Arial"/>
              <a:buChar char="•"/>
            </a:pPr>
            <a:r>
              <a:rPr lang="en-US" b="true" sz="27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U = upper triangular (back substitution)</a:t>
            </a:r>
          </a:p>
          <a:p>
            <a:pPr algn="l" marL="604126" indent="-302063" lvl="1">
              <a:lnSpc>
                <a:spcPts val="3357"/>
              </a:lnSpc>
              <a:buFont typeface="Arial"/>
              <a:buChar char="•"/>
            </a:pPr>
            <a:r>
              <a:rPr lang="en-US" b="true" sz="27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Key advantage: factorise A once, solve 100 rows cheaply</a:t>
            </a:r>
          </a:p>
          <a:p>
            <a:pPr algn="just">
              <a:lnSpc>
                <a:spcPts val="3357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351077" y="8613798"/>
            <a:ext cx="1481641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Solving this system for each row </a:t>
            </a:r>
            <a:r>
              <a:rPr lang="en-US" sz="2698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reverses the blur</a:t>
            </a:r>
            <a:r>
              <a:rPr lang="en-US" sz="26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and recovers an approximation of the original pixel values.</a:t>
            </a:r>
          </a:p>
          <a:p>
            <a:pPr algn="l">
              <a:lnSpc>
                <a:spcPts val="3237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523982" y="3646737"/>
            <a:ext cx="1614286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Solving Ax = b with LU Decomposition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028700" y="3489567"/>
            <a:ext cx="16230600" cy="6629859"/>
            <a:chOff x="0" y="0"/>
            <a:chExt cx="10748599" cy="4390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10655888" cy="4297866"/>
            </a:xfrm>
            <a:custGeom>
              <a:avLst/>
              <a:gdLst/>
              <a:ahLst/>
              <a:cxnLst/>
              <a:rect r="r" b="b" t="t" l="l"/>
              <a:pathLst>
                <a:path h="4297866" w="10655888">
                  <a:moveTo>
                    <a:pt x="0" y="4243256"/>
                  </a:moveTo>
                  <a:lnTo>
                    <a:pt x="0" y="4297866"/>
                  </a:lnTo>
                  <a:lnTo>
                    <a:pt x="10655888" y="4297866"/>
                  </a:lnTo>
                  <a:lnTo>
                    <a:pt x="10655888" y="0"/>
                  </a:lnTo>
                  <a:lnTo>
                    <a:pt x="10601278" y="0"/>
                  </a:lnTo>
                  <a:lnTo>
                    <a:pt x="10601278" y="4243256"/>
                  </a:ln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10681288" cy="4323266"/>
            </a:xfrm>
            <a:custGeom>
              <a:avLst/>
              <a:gdLst/>
              <a:ahLst/>
              <a:cxnLst/>
              <a:rect r="r" b="b" t="t" l="l"/>
              <a:pathLst>
                <a:path h="4323266" w="10681288">
                  <a:moveTo>
                    <a:pt x="10613978" y="0"/>
                  </a:moveTo>
                  <a:lnTo>
                    <a:pt x="10613978" y="12700"/>
                  </a:lnTo>
                  <a:lnTo>
                    <a:pt x="10668588" y="12700"/>
                  </a:lnTo>
                  <a:lnTo>
                    <a:pt x="10668588" y="4310566"/>
                  </a:lnTo>
                  <a:lnTo>
                    <a:pt x="12700" y="4310566"/>
                  </a:lnTo>
                  <a:lnTo>
                    <a:pt x="12700" y="4255956"/>
                  </a:lnTo>
                  <a:lnTo>
                    <a:pt x="0" y="4255956"/>
                  </a:lnTo>
                  <a:lnTo>
                    <a:pt x="0" y="4323266"/>
                  </a:lnTo>
                  <a:lnTo>
                    <a:pt x="10681288" y="4323266"/>
                  </a:lnTo>
                  <a:lnTo>
                    <a:pt x="1068128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10655888" cy="4297866"/>
            </a:xfrm>
            <a:custGeom>
              <a:avLst/>
              <a:gdLst/>
              <a:ahLst/>
              <a:cxnLst/>
              <a:rect r="r" b="b" t="t" l="l"/>
              <a:pathLst>
                <a:path h="4297866" w="10655888">
                  <a:moveTo>
                    <a:pt x="0" y="0"/>
                  </a:moveTo>
                  <a:lnTo>
                    <a:pt x="10655888" y="0"/>
                  </a:lnTo>
                  <a:lnTo>
                    <a:pt x="10655888" y="4297866"/>
                  </a:lnTo>
                  <a:lnTo>
                    <a:pt x="0" y="42978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81288" cy="4323266"/>
            </a:xfrm>
            <a:custGeom>
              <a:avLst/>
              <a:gdLst/>
              <a:ahLst/>
              <a:cxnLst/>
              <a:rect r="r" b="b" t="t" l="l"/>
              <a:pathLst>
                <a:path h="4323266" w="10681288">
                  <a:moveTo>
                    <a:pt x="80010" y="4323266"/>
                  </a:moveTo>
                  <a:lnTo>
                    <a:pt x="10681288" y="4323266"/>
                  </a:lnTo>
                  <a:lnTo>
                    <a:pt x="10681288" y="80010"/>
                  </a:lnTo>
                  <a:lnTo>
                    <a:pt x="10681288" y="67310"/>
                  </a:lnTo>
                  <a:lnTo>
                    <a:pt x="10681288" y="0"/>
                  </a:lnTo>
                  <a:lnTo>
                    <a:pt x="0" y="0"/>
                  </a:lnTo>
                  <a:lnTo>
                    <a:pt x="0" y="4323266"/>
                  </a:lnTo>
                  <a:lnTo>
                    <a:pt x="67310" y="4323266"/>
                  </a:lnTo>
                  <a:lnTo>
                    <a:pt x="80010" y="4323266"/>
                  </a:lnTo>
                  <a:close/>
                  <a:moveTo>
                    <a:pt x="12700" y="12700"/>
                  </a:moveTo>
                  <a:lnTo>
                    <a:pt x="10668588" y="12700"/>
                  </a:lnTo>
                  <a:lnTo>
                    <a:pt x="10668588" y="4310566"/>
                  </a:lnTo>
                  <a:lnTo>
                    <a:pt x="12700" y="4310566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0963" y="273833"/>
            <a:ext cx="16230600" cy="2768059"/>
            <a:chOff x="0" y="0"/>
            <a:chExt cx="9318553" cy="15892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0010" y="8001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1441919"/>
                  </a:moveTo>
                  <a:lnTo>
                    <a:pt x="0" y="1496529"/>
                  </a:lnTo>
                  <a:lnTo>
                    <a:pt x="9225843" y="1496529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441919"/>
                  </a:ln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310" y="6731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454619"/>
                  </a:lnTo>
                  <a:lnTo>
                    <a:pt x="0" y="1454619"/>
                  </a:lnTo>
                  <a:lnTo>
                    <a:pt x="0" y="1521929"/>
                  </a:lnTo>
                  <a:lnTo>
                    <a:pt x="9251243" y="1521929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0"/>
                  </a:moveTo>
                  <a:lnTo>
                    <a:pt x="9225843" y="0"/>
                  </a:lnTo>
                  <a:lnTo>
                    <a:pt x="9225843" y="1496529"/>
                  </a:lnTo>
                  <a:lnTo>
                    <a:pt x="0" y="14965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80010" y="1521929"/>
                  </a:moveTo>
                  <a:lnTo>
                    <a:pt x="9251243" y="1521929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521929"/>
                  </a:lnTo>
                  <a:lnTo>
                    <a:pt x="67310" y="1521929"/>
                  </a:lnTo>
                  <a:lnTo>
                    <a:pt x="80010" y="1521929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73050" y="3489567"/>
            <a:ext cx="16098513" cy="604156"/>
            <a:chOff x="0" y="0"/>
            <a:chExt cx="21464684" cy="805541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3030433" y="143035"/>
              <a:ext cx="13679559" cy="476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540"/>
                </a:lnSpc>
                <a:spcBef>
                  <a:spcPct val="0"/>
                </a:spcBef>
              </a:pP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0" y="0"/>
              <a:ext cx="21464684" cy="805541"/>
              <a:chOff x="0" y="0"/>
              <a:chExt cx="117801430" cy="442093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72390" y="72390"/>
                <a:ext cx="117656647" cy="4276153"/>
              </a:xfrm>
              <a:custGeom>
                <a:avLst/>
                <a:gdLst/>
                <a:ahLst/>
                <a:cxnLst/>
                <a:rect r="r" b="b" t="t" l="l"/>
                <a:pathLst>
                  <a:path h="4276153" w="117656647">
                    <a:moveTo>
                      <a:pt x="0" y="0"/>
                    </a:moveTo>
                    <a:lnTo>
                      <a:pt x="117656647" y="0"/>
                    </a:lnTo>
                    <a:lnTo>
                      <a:pt x="117656647" y="4276153"/>
                    </a:lnTo>
                    <a:lnTo>
                      <a:pt x="0" y="4276153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9D957">
                      <a:alpha val="100000"/>
                    </a:srgbClr>
                  </a:gs>
                  <a:gs pos="100000">
                    <a:srgbClr val="C9E265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17801430" cy="4420933"/>
              </a:xfrm>
              <a:custGeom>
                <a:avLst/>
                <a:gdLst/>
                <a:ahLst/>
                <a:cxnLst/>
                <a:rect r="r" b="b" t="t" l="l"/>
                <a:pathLst>
                  <a:path h="4420933" w="117801430">
                    <a:moveTo>
                      <a:pt x="117656645" y="4276153"/>
                    </a:moveTo>
                    <a:lnTo>
                      <a:pt x="117801430" y="4276153"/>
                    </a:lnTo>
                    <a:lnTo>
                      <a:pt x="117801430" y="4420933"/>
                    </a:lnTo>
                    <a:lnTo>
                      <a:pt x="117656645" y="4420933"/>
                    </a:lnTo>
                    <a:lnTo>
                      <a:pt x="117656645" y="4276153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4276153"/>
                    </a:lnTo>
                    <a:lnTo>
                      <a:pt x="0" y="4276153"/>
                    </a:lnTo>
                    <a:lnTo>
                      <a:pt x="0" y="144780"/>
                    </a:lnTo>
                    <a:close/>
                    <a:moveTo>
                      <a:pt x="0" y="4276153"/>
                    </a:moveTo>
                    <a:lnTo>
                      <a:pt x="144780" y="4276153"/>
                    </a:lnTo>
                    <a:lnTo>
                      <a:pt x="144780" y="4420933"/>
                    </a:lnTo>
                    <a:lnTo>
                      <a:pt x="0" y="4420933"/>
                    </a:lnTo>
                    <a:lnTo>
                      <a:pt x="0" y="4276153"/>
                    </a:lnTo>
                    <a:close/>
                    <a:moveTo>
                      <a:pt x="117656645" y="144780"/>
                    </a:moveTo>
                    <a:lnTo>
                      <a:pt x="117801430" y="144780"/>
                    </a:lnTo>
                    <a:lnTo>
                      <a:pt x="117801430" y="4276153"/>
                    </a:lnTo>
                    <a:lnTo>
                      <a:pt x="117656645" y="4276153"/>
                    </a:lnTo>
                    <a:lnTo>
                      <a:pt x="117656645" y="144780"/>
                    </a:lnTo>
                    <a:close/>
                    <a:moveTo>
                      <a:pt x="144780" y="4276153"/>
                    </a:moveTo>
                    <a:lnTo>
                      <a:pt x="117656645" y="4276153"/>
                    </a:lnTo>
                    <a:lnTo>
                      <a:pt x="117656645" y="4420933"/>
                    </a:lnTo>
                    <a:lnTo>
                      <a:pt x="144780" y="4420933"/>
                    </a:lnTo>
                    <a:lnTo>
                      <a:pt x="144780" y="4276153"/>
                    </a:lnTo>
                    <a:close/>
                    <a:moveTo>
                      <a:pt x="117656645" y="0"/>
                    </a:moveTo>
                    <a:lnTo>
                      <a:pt x="117801430" y="0"/>
                    </a:lnTo>
                    <a:lnTo>
                      <a:pt x="117801430" y="144780"/>
                    </a:lnTo>
                    <a:lnTo>
                      <a:pt x="117656645" y="144780"/>
                    </a:lnTo>
                    <a:lnTo>
                      <a:pt x="117656645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117656645" y="0"/>
                    </a:lnTo>
                    <a:lnTo>
                      <a:pt x="117656645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9D957">
                      <a:alpha val="100000"/>
                    </a:srgbClr>
                  </a:gs>
                  <a:gs pos="100000">
                    <a:srgbClr val="C9E265">
                      <a:alpha val="100000"/>
                    </a:srgbClr>
                  </a:gs>
                </a:gsLst>
                <a:lin ang="0"/>
              </a:gradFill>
            </p:spPr>
          </p:sp>
        </p:grpSp>
      </p:grpSp>
      <p:grpSp>
        <p:nvGrpSpPr>
          <p:cNvPr name="Group 23" id="23"/>
          <p:cNvGrpSpPr/>
          <p:nvPr/>
        </p:nvGrpSpPr>
        <p:grpSpPr>
          <a:xfrm rot="0">
            <a:off x="1351077" y="3749357"/>
            <a:ext cx="1040736" cy="242434"/>
            <a:chOff x="0" y="0"/>
            <a:chExt cx="1387648" cy="323246"/>
          </a:xfrm>
        </p:grpSpPr>
        <p:grpSp>
          <p:nvGrpSpPr>
            <p:cNvPr name="Group 24" id="24"/>
            <p:cNvGrpSpPr>
              <a:grpSpLocks noChangeAspect="true"/>
            </p:cNvGrpSpPr>
            <p:nvPr/>
          </p:nvGrpSpPr>
          <p:grpSpPr>
            <a:xfrm rot="0">
              <a:off x="1068722" y="4321"/>
              <a:ext cx="318925" cy="318925"/>
              <a:chOff x="0" y="0"/>
              <a:chExt cx="495300" cy="4953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</p:spPr>
          </p:sp>
        </p:grpSp>
        <p:grpSp>
          <p:nvGrpSpPr>
            <p:cNvPr name="Group 27" id="27"/>
            <p:cNvGrpSpPr>
              <a:grpSpLocks noChangeAspect="true"/>
            </p:cNvGrpSpPr>
            <p:nvPr/>
          </p:nvGrpSpPr>
          <p:grpSpPr>
            <a:xfrm rot="0">
              <a:off x="548378" y="0"/>
              <a:ext cx="318925" cy="318925"/>
              <a:chOff x="0" y="0"/>
              <a:chExt cx="495300" cy="4953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</p:spPr>
          </p:sp>
        </p:grpSp>
        <p:grpSp>
          <p:nvGrpSpPr>
            <p:cNvPr name="Group 30" id="30"/>
            <p:cNvGrpSpPr>
              <a:grpSpLocks noChangeAspect="true"/>
            </p:cNvGrpSpPr>
            <p:nvPr/>
          </p:nvGrpSpPr>
          <p:grpSpPr>
            <a:xfrm rot="0">
              <a:off x="0" y="0"/>
              <a:ext cx="318925" cy="318925"/>
              <a:chOff x="0" y="0"/>
              <a:chExt cx="495300" cy="4953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</p:spPr>
          </p:sp>
        </p:grpSp>
      </p:grpSp>
      <p:sp>
        <p:nvSpPr>
          <p:cNvPr name="Freeform 33" id="33"/>
          <p:cNvSpPr/>
          <p:nvPr/>
        </p:nvSpPr>
        <p:spPr>
          <a:xfrm flipH="false" flipV="false" rot="0">
            <a:off x="9588538" y="4469867"/>
            <a:ext cx="7465211" cy="3797926"/>
          </a:xfrm>
          <a:custGeom>
            <a:avLst/>
            <a:gdLst/>
            <a:ahLst/>
            <a:cxnLst/>
            <a:rect r="r" b="b" t="t" l="l"/>
            <a:pathLst>
              <a:path h="3797926" w="7465211">
                <a:moveTo>
                  <a:pt x="0" y="0"/>
                </a:moveTo>
                <a:lnTo>
                  <a:pt x="7465210" y="0"/>
                </a:lnTo>
                <a:lnTo>
                  <a:pt x="7465210" y="3797926"/>
                </a:lnTo>
                <a:lnTo>
                  <a:pt x="0" y="3797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120076" y="1285900"/>
            <a:ext cx="16936923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00" spc="17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Part (ii): Full Image Reconstruction using Least Squares</a:t>
            </a:r>
          </a:p>
          <a:p>
            <a:pPr algn="l">
              <a:lnSpc>
                <a:spcPts val="4320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120076" y="4722370"/>
            <a:ext cx="9110549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126" indent="-302063" lvl="1">
              <a:lnSpc>
                <a:spcPts val="3357"/>
              </a:lnSpc>
              <a:buFont typeface="Arial"/>
              <a:buChar char="•"/>
            </a:pPr>
            <a:r>
              <a:rPr lang="en-US" b="true" sz="27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Least Squares solves Ax = b by minimising ||Ax - b||² — the sum of squared</a:t>
            </a:r>
            <a:r>
              <a:rPr lang="en-US" b="true" sz="27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differences.</a:t>
            </a:r>
          </a:p>
          <a:p>
            <a:pPr algn="l" marL="604126" indent="-302063" lvl="1">
              <a:lnSpc>
                <a:spcPts val="3357"/>
              </a:lnSpc>
              <a:buFont typeface="Arial"/>
              <a:buChar char="•"/>
            </a:pPr>
            <a:r>
              <a:rPr lang="en-US" b="true" sz="27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More robust when A is not perfectly invertible</a:t>
            </a:r>
          </a:p>
          <a:p>
            <a:pPr algn="l" marL="604126" indent="-302063" lvl="1">
              <a:lnSpc>
                <a:spcPts val="3357"/>
              </a:lnSpc>
              <a:buFont typeface="Arial"/>
              <a:buChar char="•"/>
            </a:pPr>
            <a:r>
              <a:rPr lang="en-US" b="true" sz="27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</a:t>
            </a:r>
            <a:r>
              <a:rPr lang="en-US" b="true" sz="27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oes NOT reuse factorisation — recomputes every row from scratch</a:t>
            </a:r>
          </a:p>
          <a:p>
            <a:pPr algn="l" marL="604126" indent="-302063" lvl="1">
              <a:lnSpc>
                <a:spcPts val="3357"/>
              </a:lnSpc>
              <a:buFont typeface="Arial"/>
              <a:buChar char="•"/>
            </a:pPr>
            <a:r>
              <a:rPr lang="en-US" b="true" sz="27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np.linalg.lstsq(A, b, rcond=None)</a:t>
            </a:r>
          </a:p>
          <a:p>
            <a:pPr algn="l" marL="604126" indent="-302063" lvl="1">
              <a:lnSpc>
                <a:spcPts val="3357"/>
              </a:lnSpc>
              <a:buFont typeface="Arial"/>
              <a:buChar char="•"/>
            </a:pPr>
            <a:r>
              <a:rPr lang="en-US" b="true" sz="27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Sam</a:t>
            </a:r>
            <a:r>
              <a:rPr lang="en-US" b="true" sz="279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 mathematical result as LU but different approach</a:t>
            </a:r>
          </a:p>
          <a:p>
            <a:pPr algn="just">
              <a:lnSpc>
                <a:spcPts val="3357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582079" y="8605837"/>
            <a:ext cx="15124806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8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Solving for all the rows reverses the blur</a:t>
            </a:r>
            <a:r>
              <a:rPr lang="en-US" sz="26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and recovers an approximation of the original pixel values.</a:t>
            </a:r>
          </a:p>
          <a:p>
            <a:pPr algn="l">
              <a:lnSpc>
                <a:spcPts val="3237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523982" y="3646737"/>
            <a:ext cx="1614286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Solving Ax = b with Least Square method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089536" y="494741"/>
            <a:ext cx="16230600" cy="2768059"/>
            <a:chOff x="0" y="0"/>
            <a:chExt cx="9318553" cy="15892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1441919"/>
                  </a:moveTo>
                  <a:lnTo>
                    <a:pt x="0" y="1496529"/>
                  </a:lnTo>
                  <a:lnTo>
                    <a:pt x="9225843" y="1496529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441919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454619"/>
                  </a:lnTo>
                  <a:lnTo>
                    <a:pt x="0" y="1454619"/>
                  </a:lnTo>
                  <a:lnTo>
                    <a:pt x="0" y="1521929"/>
                  </a:lnTo>
                  <a:lnTo>
                    <a:pt x="9251243" y="1521929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0"/>
                  </a:moveTo>
                  <a:lnTo>
                    <a:pt x="9225843" y="0"/>
                  </a:lnTo>
                  <a:lnTo>
                    <a:pt x="9225843" y="1496529"/>
                  </a:lnTo>
                  <a:lnTo>
                    <a:pt x="0" y="14965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80010" y="1521929"/>
                  </a:moveTo>
                  <a:lnTo>
                    <a:pt x="9251243" y="1521929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521929"/>
                  </a:lnTo>
                  <a:lnTo>
                    <a:pt x="67310" y="1521929"/>
                  </a:lnTo>
                  <a:lnTo>
                    <a:pt x="80010" y="1521929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3628185"/>
            <a:ext cx="16230600" cy="6629859"/>
            <a:chOff x="0" y="0"/>
            <a:chExt cx="10748599" cy="43905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0010" y="80010"/>
              <a:ext cx="10655888" cy="4297866"/>
            </a:xfrm>
            <a:custGeom>
              <a:avLst/>
              <a:gdLst/>
              <a:ahLst/>
              <a:cxnLst/>
              <a:rect r="r" b="b" t="t" l="l"/>
              <a:pathLst>
                <a:path h="4297866" w="10655888">
                  <a:moveTo>
                    <a:pt x="0" y="4243256"/>
                  </a:moveTo>
                  <a:lnTo>
                    <a:pt x="0" y="4297866"/>
                  </a:lnTo>
                  <a:lnTo>
                    <a:pt x="10655888" y="4297866"/>
                  </a:lnTo>
                  <a:lnTo>
                    <a:pt x="10655888" y="0"/>
                  </a:lnTo>
                  <a:lnTo>
                    <a:pt x="10601278" y="0"/>
                  </a:lnTo>
                  <a:lnTo>
                    <a:pt x="10601278" y="4243256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310" y="67310"/>
              <a:ext cx="10681288" cy="4323266"/>
            </a:xfrm>
            <a:custGeom>
              <a:avLst/>
              <a:gdLst/>
              <a:ahLst/>
              <a:cxnLst/>
              <a:rect r="r" b="b" t="t" l="l"/>
              <a:pathLst>
                <a:path h="4323266" w="10681288">
                  <a:moveTo>
                    <a:pt x="10613978" y="0"/>
                  </a:moveTo>
                  <a:lnTo>
                    <a:pt x="10613978" y="12700"/>
                  </a:lnTo>
                  <a:lnTo>
                    <a:pt x="10668588" y="12700"/>
                  </a:lnTo>
                  <a:lnTo>
                    <a:pt x="10668588" y="4310566"/>
                  </a:lnTo>
                  <a:lnTo>
                    <a:pt x="12700" y="4310566"/>
                  </a:lnTo>
                  <a:lnTo>
                    <a:pt x="12700" y="4255956"/>
                  </a:lnTo>
                  <a:lnTo>
                    <a:pt x="0" y="4255956"/>
                  </a:lnTo>
                  <a:lnTo>
                    <a:pt x="0" y="4323266"/>
                  </a:lnTo>
                  <a:lnTo>
                    <a:pt x="10681288" y="4323266"/>
                  </a:lnTo>
                  <a:lnTo>
                    <a:pt x="1068128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10655888" cy="4297866"/>
            </a:xfrm>
            <a:custGeom>
              <a:avLst/>
              <a:gdLst/>
              <a:ahLst/>
              <a:cxnLst/>
              <a:rect r="r" b="b" t="t" l="l"/>
              <a:pathLst>
                <a:path h="4297866" w="10655888">
                  <a:moveTo>
                    <a:pt x="0" y="0"/>
                  </a:moveTo>
                  <a:lnTo>
                    <a:pt x="10655888" y="0"/>
                  </a:lnTo>
                  <a:lnTo>
                    <a:pt x="10655888" y="4297866"/>
                  </a:lnTo>
                  <a:lnTo>
                    <a:pt x="0" y="42978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81288" cy="4323266"/>
            </a:xfrm>
            <a:custGeom>
              <a:avLst/>
              <a:gdLst/>
              <a:ahLst/>
              <a:cxnLst/>
              <a:rect r="r" b="b" t="t" l="l"/>
              <a:pathLst>
                <a:path h="4323266" w="10681288">
                  <a:moveTo>
                    <a:pt x="80010" y="4323266"/>
                  </a:moveTo>
                  <a:lnTo>
                    <a:pt x="10681288" y="4323266"/>
                  </a:lnTo>
                  <a:lnTo>
                    <a:pt x="10681288" y="80010"/>
                  </a:lnTo>
                  <a:lnTo>
                    <a:pt x="10681288" y="67310"/>
                  </a:lnTo>
                  <a:lnTo>
                    <a:pt x="10681288" y="0"/>
                  </a:lnTo>
                  <a:lnTo>
                    <a:pt x="0" y="0"/>
                  </a:lnTo>
                  <a:lnTo>
                    <a:pt x="0" y="4323266"/>
                  </a:lnTo>
                  <a:lnTo>
                    <a:pt x="67310" y="4323266"/>
                  </a:lnTo>
                  <a:lnTo>
                    <a:pt x="80010" y="4323266"/>
                  </a:lnTo>
                  <a:close/>
                  <a:moveTo>
                    <a:pt x="12700" y="12700"/>
                  </a:moveTo>
                  <a:lnTo>
                    <a:pt x="10668588" y="12700"/>
                  </a:lnTo>
                  <a:lnTo>
                    <a:pt x="10668588" y="4310566"/>
                  </a:lnTo>
                  <a:lnTo>
                    <a:pt x="12700" y="4310566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3489567"/>
            <a:ext cx="16142863" cy="648710"/>
            <a:chOff x="0" y="0"/>
            <a:chExt cx="118125963" cy="47469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72390" y="72390"/>
              <a:ext cx="117981179" cy="4602178"/>
            </a:xfrm>
            <a:custGeom>
              <a:avLst/>
              <a:gdLst/>
              <a:ahLst/>
              <a:cxnLst/>
              <a:rect r="r" b="b" t="t" l="l"/>
              <a:pathLst>
                <a:path h="4602178" w="117981179">
                  <a:moveTo>
                    <a:pt x="0" y="0"/>
                  </a:moveTo>
                  <a:lnTo>
                    <a:pt x="117981179" y="0"/>
                  </a:lnTo>
                  <a:lnTo>
                    <a:pt x="117981179" y="4602178"/>
                  </a:lnTo>
                  <a:lnTo>
                    <a:pt x="0" y="4602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8125962" cy="4746958"/>
            </a:xfrm>
            <a:custGeom>
              <a:avLst/>
              <a:gdLst/>
              <a:ahLst/>
              <a:cxnLst/>
              <a:rect r="r" b="b" t="t" l="l"/>
              <a:pathLst>
                <a:path h="4746958" w="118125962">
                  <a:moveTo>
                    <a:pt x="117981189" y="4602178"/>
                  </a:moveTo>
                  <a:lnTo>
                    <a:pt x="118125962" y="4602178"/>
                  </a:lnTo>
                  <a:lnTo>
                    <a:pt x="118125962" y="4746958"/>
                  </a:lnTo>
                  <a:lnTo>
                    <a:pt x="117981189" y="4746958"/>
                  </a:lnTo>
                  <a:lnTo>
                    <a:pt x="117981189" y="460217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602178"/>
                  </a:lnTo>
                  <a:lnTo>
                    <a:pt x="0" y="4602178"/>
                  </a:lnTo>
                  <a:lnTo>
                    <a:pt x="0" y="144780"/>
                  </a:lnTo>
                  <a:close/>
                  <a:moveTo>
                    <a:pt x="0" y="4602178"/>
                  </a:moveTo>
                  <a:lnTo>
                    <a:pt x="144780" y="4602178"/>
                  </a:lnTo>
                  <a:lnTo>
                    <a:pt x="144780" y="4746958"/>
                  </a:lnTo>
                  <a:lnTo>
                    <a:pt x="0" y="4746958"/>
                  </a:lnTo>
                  <a:lnTo>
                    <a:pt x="0" y="4602178"/>
                  </a:lnTo>
                  <a:close/>
                  <a:moveTo>
                    <a:pt x="117981189" y="144780"/>
                  </a:moveTo>
                  <a:lnTo>
                    <a:pt x="118125962" y="144780"/>
                  </a:lnTo>
                  <a:lnTo>
                    <a:pt x="118125962" y="4602178"/>
                  </a:lnTo>
                  <a:lnTo>
                    <a:pt x="117981189" y="4602178"/>
                  </a:lnTo>
                  <a:lnTo>
                    <a:pt x="117981189" y="144780"/>
                  </a:lnTo>
                  <a:close/>
                  <a:moveTo>
                    <a:pt x="144780" y="4602178"/>
                  </a:moveTo>
                  <a:lnTo>
                    <a:pt x="117981189" y="4602178"/>
                  </a:lnTo>
                  <a:lnTo>
                    <a:pt x="117981189" y="4746958"/>
                  </a:lnTo>
                  <a:lnTo>
                    <a:pt x="144780" y="4746958"/>
                  </a:lnTo>
                  <a:lnTo>
                    <a:pt x="144780" y="4602178"/>
                  </a:lnTo>
                  <a:close/>
                  <a:moveTo>
                    <a:pt x="117981189" y="0"/>
                  </a:moveTo>
                  <a:lnTo>
                    <a:pt x="118125962" y="0"/>
                  </a:lnTo>
                  <a:lnTo>
                    <a:pt x="118125962" y="144780"/>
                  </a:lnTo>
                  <a:lnTo>
                    <a:pt x="117981189" y="144780"/>
                  </a:lnTo>
                  <a:lnTo>
                    <a:pt x="11798118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7981189" y="0"/>
                  </a:lnTo>
                  <a:lnTo>
                    <a:pt x="11798118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05274" y="3684837"/>
            <a:ext cx="1040736" cy="242434"/>
            <a:chOff x="0" y="0"/>
            <a:chExt cx="1387648" cy="323246"/>
          </a:xfrm>
        </p:grpSpPr>
        <p:grpSp>
          <p:nvGrpSpPr>
            <p:cNvPr name="Group 22" id="22"/>
            <p:cNvGrpSpPr>
              <a:grpSpLocks noChangeAspect="true"/>
            </p:cNvGrpSpPr>
            <p:nvPr/>
          </p:nvGrpSpPr>
          <p:grpSpPr>
            <a:xfrm rot="0">
              <a:off x="1068722" y="4321"/>
              <a:ext cx="318925" cy="318925"/>
              <a:chOff x="0" y="0"/>
              <a:chExt cx="495300" cy="4953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</p:spPr>
          </p:sp>
        </p:grp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548378" y="0"/>
              <a:ext cx="318925" cy="318925"/>
              <a:chOff x="0" y="0"/>
              <a:chExt cx="495300" cy="4953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</p:spPr>
          </p:sp>
        </p:grpSp>
        <p:grpSp>
          <p:nvGrpSpPr>
            <p:cNvPr name="Group 28" id="28"/>
            <p:cNvGrpSpPr>
              <a:grpSpLocks noChangeAspect="true"/>
            </p:cNvGrpSpPr>
            <p:nvPr/>
          </p:nvGrpSpPr>
          <p:grpSpPr>
            <a:xfrm rot="0">
              <a:off x="0" y="0"/>
              <a:ext cx="318925" cy="318925"/>
              <a:chOff x="0" y="0"/>
              <a:chExt cx="495300" cy="4953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95300" cy="495300"/>
              </a:xfrm>
              <a:custGeom>
                <a:avLst/>
                <a:gdLst/>
                <a:ahLst/>
                <a:cxnLst/>
                <a:rect r="r" b="b" t="t" l="l"/>
                <a:pathLst>
                  <a:path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</p:spPr>
          </p:sp>
        </p:grpSp>
      </p:grpSp>
      <p:sp>
        <p:nvSpPr>
          <p:cNvPr name="Freeform 31" id="31"/>
          <p:cNvSpPr/>
          <p:nvPr/>
        </p:nvSpPr>
        <p:spPr>
          <a:xfrm flipH="false" flipV="false" rot="0">
            <a:off x="10818323" y="4636324"/>
            <a:ext cx="6353240" cy="4093302"/>
          </a:xfrm>
          <a:custGeom>
            <a:avLst/>
            <a:gdLst/>
            <a:ahLst/>
            <a:cxnLst/>
            <a:rect r="r" b="b" t="t" l="l"/>
            <a:pathLst>
              <a:path h="4093302" w="6353240">
                <a:moveTo>
                  <a:pt x="0" y="0"/>
                </a:moveTo>
                <a:lnTo>
                  <a:pt x="6353240" y="0"/>
                </a:lnTo>
                <a:lnTo>
                  <a:pt x="6353240" y="4093302"/>
                </a:lnTo>
                <a:lnTo>
                  <a:pt x="0" y="4093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48981" y="4321935"/>
            <a:ext cx="9569342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358" indent="-269679" lvl="1">
              <a:lnSpc>
                <a:spcPts val="299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LU Decomposition is practically ~100 times faster* than Least Squares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for solving this system. </a:t>
            </a:r>
          </a:p>
          <a:p>
            <a:pPr algn="l">
              <a:lnSpc>
                <a:spcPts val="2397"/>
              </a:lnSpc>
            </a:pPr>
          </a:p>
          <a:p>
            <a:pPr algn="l" marL="539358" indent="-269679" lvl="1">
              <a:lnSpc>
                <a:spcPts val="2997"/>
              </a:lnSpc>
              <a:buFont typeface="Arial"/>
              <a:buChar char="•"/>
            </a:pP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Thus LU Decomposition is much effiecient</a:t>
            </a:r>
          </a:p>
          <a:p>
            <a:pPr algn="l">
              <a:lnSpc>
                <a:spcPts val="2997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248981" y="6179310"/>
            <a:ext cx="9569342" cy="449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7"/>
              </a:lnSpc>
            </a:pP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Why is it s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 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much faster?</a:t>
            </a:r>
          </a:p>
          <a:p>
            <a:pPr algn="just" marL="539358" indent="-269679" lvl="1">
              <a:lnSpc>
                <a:spcPts val="2997"/>
              </a:lnSpc>
              <a:buAutoNum type="arabicPeriod" startAt="1"/>
            </a:pP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Factorize Once: LU computes the expensive matrix breakdown once (O(N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3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)) and reuses it for every iteration.</a:t>
            </a:r>
          </a:p>
          <a:p>
            <a:pPr algn="just" marL="539358" indent="-269679" lvl="1">
              <a:lnSpc>
                <a:spcPts val="2997"/>
              </a:lnSpc>
              <a:buAutoNum type="arabicPeriod" startAt="1"/>
            </a:pP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Efficient Solving: The loop only handles back-substitution, which is s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ignifica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ntly faster (O(N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2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)).</a:t>
            </a:r>
          </a:p>
          <a:p>
            <a:pPr algn="just" marL="539358" indent="-269679" lvl="1">
              <a:lnSpc>
                <a:spcPts val="2997"/>
              </a:lnSpc>
              <a:buAutoNum type="arabicPeriod" startAt="1"/>
            </a:pP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Avoid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Redund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ancy: S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ndard solvers tr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eat 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ea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ch i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terat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as 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 brand-new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probl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em, wa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sti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ng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tim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 r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ecalcul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ing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the 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ame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d</a:t>
            </a: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ecomposition.</a:t>
            </a:r>
          </a:p>
          <a:p>
            <a:pPr algn="just">
              <a:lnSpc>
                <a:spcPts val="2997"/>
              </a:lnSpc>
            </a:pPr>
          </a:p>
          <a:p>
            <a:pPr algn="just">
              <a:lnSpc>
                <a:spcPts val="2997"/>
              </a:lnSpc>
            </a:pPr>
          </a:p>
          <a:p>
            <a:pPr algn="l">
              <a:lnSpc>
                <a:spcPts val="2997"/>
              </a:lnSpc>
            </a:pPr>
          </a:p>
          <a:p>
            <a:pPr algn="ctr">
              <a:lnSpc>
                <a:spcPts val="2997"/>
              </a:lnSpc>
              <a:spcBef>
                <a:spcPct val="0"/>
              </a:spcBef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1505274" y="1194022"/>
            <a:ext cx="11607324" cy="1369498"/>
            <a:chOff x="0" y="0"/>
            <a:chExt cx="15476432" cy="1825998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171450"/>
              <a:ext cx="15476432" cy="1417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69"/>
                </a:lnSpc>
              </a:pPr>
              <a:r>
                <a:rPr lang="en-US" sz="6141" spc="307" b="true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P</a:t>
              </a:r>
              <a:r>
                <a:rPr lang="en-US" sz="6141" spc="307" b="true">
                  <a:solidFill>
                    <a:srgbClr val="000000"/>
                  </a:solidFill>
                  <a:latin typeface="Agrandir Wide Bold"/>
                  <a:ea typeface="Agrandir Wide Bold"/>
                  <a:cs typeface="Agrandir Wide Bold"/>
                  <a:sym typeface="Agrandir Wide Bold"/>
                </a:rPr>
                <a:t>erformance Analysis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1304207"/>
              <a:ext cx="13013842" cy="521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04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746891" y="3590085"/>
            <a:ext cx="1614286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Summary of Execution Times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27389" y="5052677"/>
            <a:ext cx="9569342" cy="28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  <a:spcBef>
                <a:spcPct val="0"/>
              </a:spcBef>
            </a:pPr>
            <a:r>
              <a:rPr lang="en-US" sz="1800" spc="3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(*depends </a:t>
            </a:r>
            <a:r>
              <a:rPr lang="en-US" sz="1800" spc="3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on the amount of noise 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965777" y="3162774"/>
            <a:ext cx="9186353" cy="3606123"/>
            <a:chOff x="0" y="0"/>
            <a:chExt cx="6083596" cy="23881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5990886" cy="2295419"/>
            </a:xfrm>
            <a:custGeom>
              <a:avLst/>
              <a:gdLst/>
              <a:ahLst/>
              <a:cxnLst/>
              <a:rect r="r" b="b" t="t" l="l"/>
              <a:pathLst>
                <a:path h="2295419" w="5990886">
                  <a:moveTo>
                    <a:pt x="0" y="2240809"/>
                  </a:moveTo>
                  <a:lnTo>
                    <a:pt x="0" y="2295419"/>
                  </a:lnTo>
                  <a:lnTo>
                    <a:pt x="5990886" y="2295419"/>
                  </a:lnTo>
                  <a:lnTo>
                    <a:pt x="5990886" y="0"/>
                  </a:lnTo>
                  <a:lnTo>
                    <a:pt x="5936276" y="0"/>
                  </a:lnTo>
                  <a:lnTo>
                    <a:pt x="5936276" y="2240809"/>
                  </a:lnTo>
                  <a:close/>
                </a:path>
              </a:pathLst>
            </a:custGeom>
            <a:solidFill>
              <a:srgbClr val="FFF2A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6016286" cy="2320819"/>
            </a:xfrm>
            <a:custGeom>
              <a:avLst/>
              <a:gdLst/>
              <a:ahLst/>
              <a:cxnLst/>
              <a:rect r="r" b="b" t="t" l="l"/>
              <a:pathLst>
                <a:path h="2320819" w="6016286">
                  <a:moveTo>
                    <a:pt x="5948976" y="0"/>
                  </a:moveTo>
                  <a:lnTo>
                    <a:pt x="5948976" y="12700"/>
                  </a:lnTo>
                  <a:lnTo>
                    <a:pt x="6003586" y="12700"/>
                  </a:lnTo>
                  <a:lnTo>
                    <a:pt x="6003586" y="2308119"/>
                  </a:lnTo>
                  <a:lnTo>
                    <a:pt x="12700" y="2308119"/>
                  </a:lnTo>
                  <a:lnTo>
                    <a:pt x="12700" y="2253509"/>
                  </a:lnTo>
                  <a:lnTo>
                    <a:pt x="0" y="2253509"/>
                  </a:lnTo>
                  <a:lnTo>
                    <a:pt x="0" y="2320819"/>
                  </a:lnTo>
                  <a:lnTo>
                    <a:pt x="6016286" y="2320819"/>
                  </a:lnTo>
                  <a:lnTo>
                    <a:pt x="601628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5990886" cy="2295419"/>
            </a:xfrm>
            <a:custGeom>
              <a:avLst/>
              <a:gdLst/>
              <a:ahLst/>
              <a:cxnLst/>
              <a:rect r="r" b="b" t="t" l="l"/>
              <a:pathLst>
                <a:path h="2295419" w="5990886">
                  <a:moveTo>
                    <a:pt x="0" y="0"/>
                  </a:moveTo>
                  <a:lnTo>
                    <a:pt x="5990886" y="0"/>
                  </a:lnTo>
                  <a:lnTo>
                    <a:pt x="5990886" y="2295419"/>
                  </a:lnTo>
                  <a:lnTo>
                    <a:pt x="0" y="22954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16286" cy="2320819"/>
            </a:xfrm>
            <a:custGeom>
              <a:avLst/>
              <a:gdLst/>
              <a:ahLst/>
              <a:cxnLst/>
              <a:rect r="r" b="b" t="t" l="l"/>
              <a:pathLst>
                <a:path h="2320819" w="6016286">
                  <a:moveTo>
                    <a:pt x="80010" y="2320819"/>
                  </a:moveTo>
                  <a:lnTo>
                    <a:pt x="6016286" y="2320819"/>
                  </a:lnTo>
                  <a:lnTo>
                    <a:pt x="6016286" y="80010"/>
                  </a:lnTo>
                  <a:lnTo>
                    <a:pt x="6016286" y="67310"/>
                  </a:lnTo>
                  <a:lnTo>
                    <a:pt x="6016286" y="0"/>
                  </a:lnTo>
                  <a:lnTo>
                    <a:pt x="0" y="0"/>
                  </a:lnTo>
                  <a:lnTo>
                    <a:pt x="0" y="2320819"/>
                  </a:lnTo>
                  <a:lnTo>
                    <a:pt x="67310" y="2320819"/>
                  </a:lnTo>
                  <a:lnTo>
                    <a:pt x="80010" y="2320819"/>
                  </a:lnTo>
                  <a:close/>
                  <a:moveTo>
                    <a:pt x="12700" y="12700"/>
                  </a:moveTo>
                  <a:lnTo>
                    <a:pt x="6003586" y="12700"/>
                  </a:lnTo>
                  <a:lnTo>
                    <a:pt x="6003586" y="2308119"/>
                  </a:lnTo>
                  <a:lnTo>
                    <a:pt x="12700" y="230811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5777" y="245754"/>
            <a:ext cx="16230600" cy="2768059"/>
            <a:chOff x="0" y="0"/>
            <a:chExt cx="9318553" cy="15892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80010" y="8001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1441919"/>
                  </a:moveTo>
                  <a:lnTo>
                    <a:pt x="0" y="1496529"/>
                  </a:lnTo>
                  <a:lnTo>
                    <a:pt x="9225843" y="1496529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441919"/>
                  </a:lnTo>
                  <a:close/>
                </a:path>
              </a:pathLst>
            </a:custGeom>
            <a:solidFill>
              <a:srgbClr val="FFF2A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7310" y="6731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454619"/>
                  </a:lnTo>
                  <a:lnTo>
                    <a:pt x="0" y="1454619"/>
                  </a:lnTo>
                  <a:lnTo>
                    <a:pt x="0" y="1521929"/>
                  </a:lnTo>
                  <a:lnTo>
                    <a:pt x="9251243" y="1521929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9225843" cy="1496529"/>
            </a:xfrm>
            <a:custGeom>
              <a:avLst/>
              <a:gdLst/>
              <a:ahLst/>
              <a:cxnLst/>
              <a:rect r="r" b="b" t="t" l="l"/>
              <a:pathLst>
                <a:path h="1496529" w="9225843">
                  <a:moveTo>
                    <a:pt x="0" y="0"/>
                  </a:moveTo>
                  <a:lnTo>
                    <a:pt x="9225843" y="0"/>
                  </a:lnTo>
                  <a:lnTo>
                    <a:pt x="9225843" y="1496529"/>
                  </a:lnTo>
                  <a:lnTo>
                    <a:pt x="0" y="149652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51243" cy="1521929"/>
            </a:xfrm>
            <a:custGeom>
              <a:avLst/>
              <a:gdLst/>
              <a:ahLst/>
              <a:cxnLst/>
              <a:rect r="r" b="b" t="t" l="l"/>
              <a:pathLst>
                <a:path h="1521929" w="9251243">
                  <a:moveTo>
                    <a:pt x="80010" y="1521929"/>
                  </a:moveTo>
                  <a:lnTo>
                    <a:pt x="9251243" y="1521929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521929"/>
                  </a:lnTo>
                  <a:lnTo>
                    <a:pt x="67310" y="1521929"/>
                  </a:lnTo>
                  <a:lnTo>
                    <a:pt x="80010" y="1521929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65777" y="6845097"/>
            <a:ext cx="9186353" cy="3267827"/>
            <a:chOff x="0" y="0"/>
            <a:chExt cx="6713391" cy="23881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80010" y="80010"/>
              <a:ext cx="6620681" cy="2295419"/>
            </a:xfrm>
            <a:custGeom>
              <a:avLst/>
              <a:gdLst/>
              <a:ahLst/>
              <a:cxnLst/>
              <a:rect r="r" b="b" t="t" l="l"/>
              <a:pathLst>
                <a:path h="2295419" w="6620681">
                  <a:moveTo>
                    <a:pt x="0" y="2240809"/>
                  </a:moveTo>
                  <a:lnTo>
                    <a:pt x="0" y="2295419"/>
                  </a:lnTo>
                  <a:lnTo>
                    <a:pt x="6620681" y="2295419"/>
                  </a:lnTo>
                  <a:lnTo>
                    <a:pt x="6620681" y="0"/>
                  </a:lnTo>
                  <a:lnTo>
                    <a:pt x="6566071" y="0"/>
                  </a:lnTo>
                  <a:lnTo>
                    <a:pt x="6566071" y="2240809"/>
                  </a:lnTo>
                  <a:close/>
                </a:path>
              </a:pathLst>
            </a:custGeom>
            <a:solidFill>
              <a:srgbClr val="FFF2A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7310" y="67310"/>
              <a:ext cx="6646081" cy="2320819"/>
            </a:xfrm>
            <a:custGeom>
              <a:avLst/>
              <a:gdLst/>
              <a:ahLst/>
              <a:cxnLst/>
              <a:rect r="r" b="b" t="t" l="l"/>
              <a:pathLst>
                <a:path h="2320819" w="6646081">
                  <a:moveTo>
                    <a:pt x="6578771" y="0"/>
                  </a:moveTo>
                  <a:lnTo>
                    <a:pt x="6578771" y="12700"/>
                  </a:lnTo>
                  <a:lnTo>
                    <a:pt x="6633381" y="12700"/>
                  </a:lnTo>
                  <a:lnTo>
                    <a:pt x="6633381" y="2308119"/>
                  </a:lnTo>
                  <a:lnTo>
                    <a:pt x="12700" y="2308119"/>
                  </a:lnTo>
                  <a:lnTo>
                    <a:pt x="12700" y="2253509"/>
                  </a:lnTo>
                  <a:lnTo>
                    <a:pt x="0" y="2253509"/>
                  </a:lnTo>
                  <a:lnTo>
                    <a:pt x="0" y="2320819"/>
                  </a:lnTo>
                  <a:lnTo>
                    <a:pt x="6646081" y="2320819"/>
                  </a:lnTo>
                  <a:lnTo>
                    <a:pt x="6646081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2700" y="12700"/>
              <a:ext cx="6620681" cy="2295419"/>
            </a:xfrm>
            <a:custGeom>
              <a:avLst/>
              <a:gdLst/>
              <a:ahLst/>
              <a:cxnLst/>
              <a:rect r="r" b="b" t="t" l="l"/>
              <a:pathLst>
                <a:path h="2295419" w="6620681">
                  <a:moveTo>
                    <a:pt x="0" y="0"/>
                  </a:moveTo>
                  <a:lnTo>
                    <a:pt x="6620681" y="0"/>
                  </a:lnTo>
                  <a:lnTo>
                    <a:pt x="6620681" y="2295419"/>
                  </a:lnTo>
                  <a:lnTo>
                    <a:pt x="0" y="22954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46081" cy="2320819"/>
            </a:xfrm>
            <a:custGeom>
              <a:avLst/>
              <a:gdLst/>
              <a:ahLst/>
              <a:cxnLst/>
              <a:rect r="r" b="b" t="t" l="l"/>
              <a:pathLst>
                <a:path h="2320819" w="6646081">
                  <a:moveTo>
                    <a:pt x="80010" y="2320819"/>
                  </a:moveTo>
                  <a:lnTo>
                    <a:pt x="6646081" y="2320819"/>
                  </a:lnTo>
                  <a:lnTo>
                    <a:pt x="6646081" y="80010"/>
                  </a:lnTo>
                  <a:lnTo>
                    <a:pt x="6646081" y="67310"/>
                  </a:lnTo>
                  <a:lnTo>
                    <a:pt x="6646081" y="0"/>
                  </a:lnTo>
                  <a:lnTo>
                    <a:pt x="0" y="0"/>
                  </a:lnTo>
                  <a:lnTo>
                    <a:pt x="0" y="2320819"/>
                  </a:lnTo>
                  <a:lnTo>
                    <a:pt x="67310" y="2320819"/>
                  </a:lnTo>
                  <a:lnTo>
                    <a:pt x="80010" y="2320819"/>
                  </a:lnTo>
                  <a:close/>
                  <a:moveTo>
                    <a:pt x="12700" y="12700"/>
                  </a:moveTo>
                  <a:lnTo>
                    <a:pt x="6633381" y="12700"/>
                  </a:lnTo>
                  <a:lnTo>
                    <a:pt x="6633381" y="2308119"/>
                  </a:lnTo>
                  <a:lnTo>
                    <a:pt x="12700" y="230811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333243" y="7780158"/>
            <a:ext cx="4407776" cy="788145"/>
          </a:xfrm>
          <a:custGeom>
            <a:avLst/>
            <a:gdLst/>
            <a:ahLst/>
            <a:cxnLst/>
            <a:rect r="r" b="b" t="t" l="l"/>
            <a:pathLst>
              <a:path h="788145" w="4407776">
                <a:moveTo>
                  <a:pt x="0" y="0"/>
                </a:moveTo>
                <a:lnTo>
                  <a:pt x="4407776" y="0"/>
                </a:lnTo>
                <a:lnTo>
                  <a:pt x="4407776" y="788145"/>
                </a:lnTo>
                <a:lnTo>
                  <a:pt x="0" y="788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708034" y="7647989"/>
            <a:ext cx="2945313" cy="2147866"/>
          </a:xfrm>
          <a:custGeom>
            <a:avLst/>
            <a:gdLst/>
            <a:ahLst/>
            <a:cxnLst/>
            <a:rect r="r" b="b" t="t" l="l"/>
            <a:pathLst>
              <a:path h="2147866" w="2945313">
                <a:moveTo>
                  <a:pt x="0" y="0"/>
                </a:moveTo>
                <a:lnTo>
                  <a:pt x="2945313" y="0"/>
                </a:lnTo>
                <a:lnTo>
                  <a:pt x="2945313" y="2147866"/>
                </a:lnTo>
                <a:lnTo>
                  <a:pt x="0" y="2147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3335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977420" y="3013814"/>
            <a:ext cx="4236854" cy="3296587"/>
          </a:xfrm>
          <a:custGeom>
            <a:avLst/>
            <a:gdLst/>
            <a:ahLst/>
            <a:cxnLst/>
            <a:rect r="r" b="b" t="t" l="l"/>
            <a:pathLst>
              <a:path h="3296587" w="4236854">
                <a:moveTo>
                  <a:pt x="0" y="0"/>
                </a:moveTo>
                <a:lnTo>
                  <a:pt x="4236854" y="0"/>
                </a:lnTo>
                <a:lnTo>
                  <a:pt x="4236854" y="3296586"/>
                </a:lnTo>
                <a:lnTo>
                  <a:pt x="0" y="32965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456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910605" y="6602036"/>
            <a:ext cx="4303669" cy="3510888"/>
          </a:xfrm>
          <a:custGeom>
            <a:avLst/>
            <a:gdLst/>
            <a:ahLst/>
            <a:cxnLst/>
            <a:rect r="r" b="b" t="t" l="l"/>
            <a:pathLst>
              <a:path h="3510888" w="4303669">
                <a:moveTo>
                  <a:pt x="0" y="0"/>
                </a:moveTo>
                <a:lnTo>
                  <a:pt x="4303669" y="0"/>
                </a:lnTo>
                <a:lnTo>
                  <a:pt x="4303669" y="3510888"/>
                </a:lnTo>
                <a:lnTo>
                  <a:pt x="0" y="35108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33243" y="991074"/>
            <a:ext cx="15495666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041" spc="202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Step 3: Residual Analysis - Measuring Reconstruction Quality</a:t>
            </a:r>
          </a:p>
          <a:p>
            <a:pPr algn="l">
              <a:lnSpc>
                <a:spcPts val="664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713296" y="3235385"/>
            <a:ext cx="8678940" cy="311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308" indent="-271154" lvl="1">
              <a:lnSpc>
                <a:spcPts val="2763"/>
              </a:lnSpc>
              <a:buFont typeface="Arial"/>
              <a:buChar char="•"/>
            </a:pPr>
            <a:r>
              <a:rPr lang="en-US" b="true" sz="2511" spc="50" u="sng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Frobenius</a:t>
            </a:r>
            <a:r>
              <a:rPr lang="en-US" b="true" sz="2511" spc="50" u="sng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Residual</a:t>
            </a:r>
          </a:p>
          <a:p>
            <a:pPr algn="l" marL="1084616" indent="-361539" lvl="2">
              <a:lnSpc>
                <a:spcPts val="2763"/>
              </a:lnSpc>
              <a:buFont typeface="Arial"/>
              <a:buChar char="⚬"/>
            </a:pPr>
            <a:r>
              <a:rPr lang="en-US" sz="2511" spc="5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 = ||reconstructed - original||</a:t>
            </a:r>
            <a:r>
              <a:rPr lang="en-US" sz="2511" spc="5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</a:t>
            </a:r>
          </a:p>
          <a:p>
            <a:pPr algn="l" marL="1084616" indent="-361539" lvl="2">
              <a:lnSpc>
                <a:spcPts val="2763"/>
              </a:lnSpc>
              <a:buFont typeface="Arial"/>
              <a:buChar char="⚬"/>
            </a:pPr>
            <a:r>
              <a:rPr lang="en-US" sz="2511" spc="5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 Frobenius norm squares every pixel difference, sums them all, and takes the square root. It gives a single number representing total error across the whole image.</a:t>
            </a:r>
          </a:p>
          <a:p>
            <a:pPr algn="l" marL="1084616" indent="-361539" lvl="2">
              <a:lnSpc>
                <a:spcPts val="2763"/>
              </a:lnSpc>
              <a:buFont typeface="Arial"/>
              <a:buChar char="⚬"/>
            </a:pPr>
            <a:r>
              <a:rPr lang="en-US" b="true" sz="2511" spc="5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Lower residual = closer to original = better restoration</a:t>
            </a:r>
            <a:r>
              <a:rPr lang="en-US" sz="2511" spc="5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.</a:t>
            </a:r>
          </a:p>
          <a:p>
            <a:pPr algn="just">
              <a:lnSpc>
                <a:spcPts val="276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017479" y="7340636"/>
            <a:ext cx="5393412" cy="62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681" indent="-244840" lvl="1">
              <a:lnSpc>
                <a:spcPts val="2381"/>
              </a:lnSpc>
              <a:buFont typeface="Arial"/>
              <a:buChar char="•"/>
            </a:pPr>
            <a:r>
              <a:rPr lang="en-US" b="true" sz="2268" u="sng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PSNR</a:t>
            </a:r>
            <a:r>
              <a:rPr lang="en-US" b="true" sz="2268" u="sng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(Peak Signal-to-Noise Ratio)</a:t>
            </a:r>
          </a:p>
          <a:p>
            <a:pPr algn="l" marL="489681" indent="-244840" lvl="1">
              <a:lnSpc>
                <a:spcPts val="2381"/>
              </a:lnSpc>
              <a:buFont typeface="Arial"/>
              <a:buChar char="•"/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333243" y="8654028"/>
            <a:ext cx="5374790" cy="919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  <a:spcBef>
                <a:spcPct val="0"/>
              </a:spcBef>
            </a:pPr>
            <a:r>
              <a:rPr lang="en-US" sz="226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PSNR</a:t>
            </a:r>
            <a:r>
              <a:rPr lang="en-US" sz="2268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is standardised in decibels (dB) so it can be compared across different images and projects.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4293" t="-1389" r="-14293" b="-13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8426" y="-837703"/>
            <a:ext cx="18586525" cy="12252852"/>
            <a:chOff x="0" y="0"/>
            <a:chExt cx="24782033" cy="16337136"/>
          </a:xfrm>
        </p:grpSpPr>
        <p:grpSp>
          <p:nvGrpSpPr>
            <p:cNvPr name="Group 4" id="4"/>
            <p:cNvGrpSpPr/>
            <p:nvPr/>
          </p:nvGrpSpPr>
          <p:grpSpPr>
            <a:xfrm rot="-5400000">
              <a:off x="4758185" y="-4758185"/>
              <a:ext cx="15265663" cy="24782033"/>
              <a:chOff x="0" y="0"/>
              <a:chExt cx="3290570" cy="320421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50569" cy="9906344"/>
              </a:xfrm>
              <a:custGeom>
                <a:avLst/>
                <a:gdLst/>
                <a:ahLst/>
                <a:cxnLst/>
                <a:rect r="r" b="b" t="t" l="l"/>
                <a:pathLst>
                  <a:path h="9906344" w="6750569">
                    <a:moveTo>
                      <a:pt x="6750569" y="34774"/>
                    </a:moveTo>
                    <a:lnTo>
                      <a:pt x="0" y="34774"/>
                    </a:lnTo>
                    <a:lnTo>
                      <a:pt x="0" y="0"/>
                    </a:lnTo>
                    <a:lnTo>
                      <a:pt x="6750569" y="0"/>
                    </a:lnTo>
                    <a:lnTo>
                      <a:pt x="6750569" y="34774"/>
                    </a:lnTo>
                    <a:close/>
                    <a:moveTo>
                      <a:pt x="6750569" y="1095392"/>
                    </a:moveTo>
                    <a:lnTo>
                      <a:pt x="0" y="1095392"/>
                    </a:lnTo>
                    <a:lnTo>
                      <a:pt x="0" y="1130166"/>
                    </a:lnTo>
                    <a:lnTo>
                      <a:pt x="6750569" y="1130166"/>
                    </a:lnTo>
                    <a:lnTo>
                      <a:pt x="6750569" y="1095392"/>
                    </a:lnTo>
                    <a:close/>
                    <a:moveTo>
                      <a:pt x="6750569" y="2195131"/>
                    </a:moveTo>
                    <a:lnTo>
                      <a:pt x="0" y="2195131"/>
                    </a:lnTo>
                    <a:lnTo>
                      <a:pt x="0" y="2229905"/>
                    </a:lnTo>
                    <a:lnTo>
                      <a:pt x="6750569" y="2229905"/>
                    </a:lnTo>
                    <a:lnTo>
                      <a:pt x="6750569" y="2195131"/>
                    </a:lnTo>
                    <a:close/>
                    <a:moveTo>
                      <a:pt x="6750569" y="3290523"/>
                    </a:moveTo>
                    <a:lnTo>
                      <a:pt x="0" y="3290523"/>
                    </a:lnTo>
                    <a:lnTo>
                      <a:pt x="0" y="3325297"/>
                    </a:lnTo>
                    <a:lnTo>
                      <a:pt x="6750569" y="3325297"/>
                    </a:lnTo>
                    <a:lnTo>
                      <a:pt x="6750569" y="3290523"/>
                    </a:lnTo>
                    <a:close/>
                    <a:moveTo>
                      <a:pt x="6750569" y="4385915"/>
                    </a:moveTo>
                    <a:lnTo>
                      <a:pt x="0" y="4385915"/>
                    </a:lnTo>
                    <a:lnTo>
                      <a:pt x="0" y="4420690"/>
                    </a:lnTo>
                    <a:lnTo>
                      <a:pt x="6750569" y="4420690"/>
                    </a:lnTo>
                    <a:lnTo>
                      <a:pt x="6750569" y="4385915"/>
                    </a:lnTo>
                    <a:close/>
                    <a:moveTo>
                      <a:pt x="6750569" y="5481307"/>
                    </a:moveTo>
                    <a:lnTo>
                      <a:pt x="0" y="5481307"/>
                    </a:lnTo>
                    <a:lnTo>
                      <a:pt x="0" y="5516082"/>
                    </a:lnTo>
                    <a:lnTo>
                      <a:pt x="6750569" y="5516082"/>
                    </a:lnTo>
                    <a:lnTo>
                      <a:pt x="6750569" y="5481307"/>
                    </a:lnTo>
                    <a:close/>
                    <a:moveTo>
                      <a:pt x="6750569" y="6581046"/>
                    </a:moveTo>
                    <a:lnTo>
                      <a:pt x="0" y="6581046"/>
                    </a:lnTo>
                    <a:lnTo>
                      <a:pt x="0" y="6615820"/>
                    </a:lnTo>
                    <a:lnTo>
                      <a:pt x="6750569" y="6615820"/>
                    </a:lnTo>
                    <a:lnTo>
                      <a:pt x="6750569" y="6581046"/>
                    </a:lnTo>
                    <a:close/>
                    <a:moveTo>
                      <a:pt x="6750569" y="7676438"/>
                    </a:moveTo>
                    <a:lnTo>
                      <a:pt x="0" y="7676438"/>
                    </a:lnTo>
                    <a:lnTo>
                      <a:pt x="0" y="7711213"/>
                    </a:lnTo>
                    <a:lnTo>
                      <a:pt x="6750569" y="7711213"/>
                    </a:lnTo>
                    <a:lnTo>
                      <a:pt x="6750569" y="7676438"/>
                    </a:lnTo>
                    <a:close/>
                    <a:moveTo>
                      <a:pt x="6750569" y="8771830"/>
                    </a:moveTo>
                    <a:lnTo>
                      <a:pt x="0" y="8771830"/>
                    </a:lnTo>
                    <a:lnTo>
                      <a:pt x="0" y="8806605"/>
                    </a:lnTo>
                    <a:lnTo>
                      <a:pt x="6750569" y="8806605"/>
                    </a:lnTo>
                    <a:lnTo>
                      <a:pt x="6750569" y="8771830"/>
                    </a:lnTo>
                    <a:close/>
                    <a:moveTo>
                      <a:pt x="6750569" y="9871570"/>
                    </a:moveTo>
                    <a:lnTo>
                      <a:pt x="0" y="9871570"/>
                    </a:lnTo>
                    <a:lnTo>
                      <a:pt x="0" y="9906344"/>
                    </a:lnTo>
                    <a:lnTo>
                      <a:pt x="6750569" y="9906344"/>
                    </a:lnTo>
                    <a:lnTo>
                      <a:pt x="6750569" y="9871570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-10800000">
              <a:off x="88900" y="1729900"/>
              <a:ext cx="24693133" cy="14607236"/>
              <a:chOff x="0" y="0"/>
              <a:chExt cx="3290570" cy="320421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919454" cy="5837825"/>
              </a:xfrm>
              <a:custGeom>
                <a:avLst/>
                <a:gdLst/>
                <a:ahLst/>
                <a:cxnLst/>
                <a:rect r="r" b="b" t="t" l="l"/>
                <a:pathLst>
                  <a:path h="5837825" w="10919454">
                    <a:moveTo>
                      <a:pt x="10919454" y="20493"/>
                    </a:moveTo>
                    <a:lnTo>
                      <a:pt x="0" y="20493"/>
                    </a:lnTo>
                    <a:lnTo>
                      <a:pt x="0" y="0"/>
                    </a:lnTo>
                    <a:lnTo>
                      <a:pt x="10919454" y="0"/>
                    </a:lnTo>
                    <a:lnTo>
                      <a:pt x="10919454" y="20493"/>
                    </a:lnTo>
                    <a:close/>
                    <a:moveTo>
                      <a:pt x="10919454" y="645516"/>
                    </a:moveTo>
                    <a:lnTo>
                      <a:pt x="0" y="645516"/>
                    </a:lnTo>
                    <a:lnTo>
                      <a:pt x="0" y="666009"/>
                    </a:lnTo>
                    <a:lnTo>
                      <a:pt x="10919454" y="666009"/>
                    </a:lnTo>
                    <a:lnTo>
                      <a:pt x="10919454" y="645516"/>
                    </a:lnTo>
                    <a:close/>
                    <a:moveTo>
                      <a:pt x="10919454" y="1293594"/>
                    </a:moveTo>
                    <a:lnTo>
                      <a:pt x="0" y="1293594"/>
                    </a:lnTo>
                    <a:lnTo>
                      <a:pt x="0" y="1314087"/>
                    </a:lnTo>
                    <a:lnTo>
                      <a:pt x="10919454" y="1314087"/>
                    </a:lnTo>
                    <a:lnTo>
                      <a:pt x="10919454" y="1293594"/>
                    </a:lnTo>
                    <a:close/>
                    <a:moveTo>
                      <a:pt x="10919454" y="1939111"/>
                    </a:moveTo>
                    <a:lnTo>
                      <a:pt x="0" y="1939111"/>
                    </a:lnTo>
                    <a:lnTo>
                      <a:pt x="0" y="1959603"/>
                    </a:lnTo>
                    <a:lnTo>
                      <a:pt x="10919454" y="1959603"/>
                    </a:lnTo>
                    <a:lnTo>
                      <a:pt x="10919454" y="1939111"/>
                    </a:lnTo>
                    <a:close/>
                    <a:moveTo>
                      <a:pt x="10919454" y="2584627"/>
                    </a:moveTo>
                    <a:lnTo>
                      <a:pt x="0" y="2584627"/>
                    </a:lnTo>
                    <a:lnTo>
                      <a:pt x="0" y="2605120"/>
                    </a:lnTo>
                    <a:lnTo>
                      <a:pt x="10919454" y="2605120"/>
                    </a:lnTo>
                    <a:lnTo>
                      <a:pt x="10919454" y="2584627"/>
                    </a:lnTo>
                    <a:close/>
                    <a:moveTo>
                      <a:pt x="10919454" y="3230144"/>
                    </a:moveTo>
                    <a:lnTo>
                      <a:pt x="0" y="3230144"/>
                    </a:lnTo>
                    <a:lnTo>
                      <a:pt x="0" y="3250636"/>
                    </a:lnTo>
                    <a:lnTo>
                      <a:pt x="10919454" y="3250636"/>
                    </a:lnTo>
                    <a:lnTo>
                      <a:pt x="10919454" y="3230144"/>
                    </a:lnTo>
                    <a:close/>
                    <a:moveTo>
                      <a:pt x="10919454" y="3878221"/>
                    </a:moveTo>
                    <a:lnTo>
                      <a:pt x="0" y="3878221"/>
                    </a:lnTo>
                    <a:lnTo>
                      <a:pt x="0" y="3898714"/>
                    </a:lnTo>
                    <a:lnTo>
                      <a:pt x="10919454" y="3898714"/>
                    </a:lnTo>
                    <a:lnTo>
                      <a:pt x="10919454" y="3878221"/>
                    </a:lnTo>
                    <a:close/>
                    <a:moveTo>
                      <a:pt x="10919454" y="4523738"/>
                    </a:moveTo>
                    <a:lnTo>
                      <a:pt x="0" y="4523738"/>
                    </a:lnTo>
                    <a:lnTo>
                      <a:pt x="0" y="4544231"/>
                    </a:lnTo>
                    <a:lnTo>
                      <a:pt x="10919454" y="4544231"/>
                    </a:lnTo>
                    <a:lnTo>
                      <a:pt x="10919454" y="4523738"/>
                    </a:lnTo>
                    <a:close/>
                    <a:moveTo>
                      <a:pt x="10919454" y="5169255"/>
                    </a:moveTo>
                    <a:lnTo>
                      <a:pt x="0" y="5169255"/>
                    </a:lnTo>
                    <a:lnTo>
                      <a:pt x="0" y="5189747"/>
                    </a:lnTo>
                    <a:lnTo>
                      <a:pt x="10919454" y="5189747"/>
                    </a:lnTo>
                    <a:lnTo>
                      <a:pt x="10919454" y="5169255"/>
                    </a:lnTo>
                    <a:close/>
                    <a:moveTo>
                      <a:pt x="10919454" y="5817333"/>
                    </a:moveTo>
                    <a:lnTo>
                      <a:pt x="0" y="5817333"/>
                    </a:lnTo>
                    <a:lnTo>
                      <a:pt x="0" y="5837825"/>
                    </a:lnTo>
                    <a:lnTo>
                      <a:pt x="10919454" y="5837825"/>
                    </a:lnTo>
                    <a:lnTo>
                      <a:pt x="10919454" y="5817333"/>
                    </a:lnTo>
                    <a:close/>
                  </a:path>
                </a:pathLst>
              </a:custGeom>
              <a:solidFill>
                <a:srgbClr val="000000">
                  <a:alpha val="14902"/>
                </a:srgbClr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6114498" cy="2233712"/>
            <a:chOff x="0" y="0"/>
            <a:chExt cx="9251895" cy="12824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0010" y="80010"/>
              <a:ext cx="9159185" cy="1189742"/>
            </a:xfrm>
            <a:custGeom>
              <a:avLst/>
              <a:gdLst/>
              <a:ahLst/>
              <a:cxnLst/>
              <a:rect r="r" b="b" t="t" l="l"/>
              <a:pathLst>
                <a:path h="1189742" w="9159185">
                  <a:moveTo>
                    <a:pt x="0" y="1135132"/>
                  </a:moveTo>
                  <a:lnTo>
                    <a:pt x="0" y="1189742"/>
                  </a:lnTo>
                  <a:lnTo>
                    <a:pt x="9159185" y="1189742"/>
                  </a:lnTo>
                  <a:lnTo>
                    <a:pt x="9159185" y="0"/>
                  </a:lnTo>
                  <a:lnTo>
                    <a:pt x="9104575" y="0"/>
                  </a:lnTo>
                  <a:lnTo>
                    <a:pt x="9104575" y="1135132"/>
                  </a:lnTo>
                  <a:close/>
                </a:path>
              </a:pathLst>
            </a:custGeom>
            <a:solidFill>
              <a:srgbClr val="B6E3F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" y="67310"/>
              <a:ext cx="9184585" cy="1215142"/>
            </a:xfrm>
            <a:custGeom>
              <a:avLst/>
              <a:gdLst/>
              <a:ahLst/>
              <a:cxnLst/>
              <a:rect r="r" b="b" t="t" l="l"/>
              <a:pathLst>
                <a:path h="1215142" w="9184585">
                  <a:moveTo>
                    <a:pt x="9117275" y="0"/>
                  </a:moveTo>
                  <a:lnTo>
                    <a:pt x="9117275" y="12700"/>
                  </a:lnTo>
                  <a:lnTo>
                    <a:pt x="9171885" y="12700"/>
                  </a:lnTo>
                  <a:lnTo>
                    <a:pt x="9171885" y="1202442"/>
                  </a:lnTo>
                  <a:lnTo>
                    <a:pt x="12700" y="1202442"/>
                  </a:lnTo>
                  <a:lnTo>
                    <a:pt x="12700" y="1147832"/>
                  </a:lnTo>
                  <a:lnTo>
                    <a:pt x="0" y="1147832"/>
                  </a:lnTo>
                  <a:lnTo>
                    <a:pt x="0" y="1215142"/>
                  </a:lnTo>
                  <a:lnTo>
                    <a:pt x="9184585" y="1215142"/>
                  </a:lnTo>
                  <a:lnTo>
                    <a:pt x="9184585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9159185" cy="1189742"/>
            </a:xfrm>
            <a:custGeom>
              <a:avLst/>
              <a:gdLst/>
              <a:ahLst/>
              <a:cxnLst/>
              <a:rect r="r" b="b" t="t" l="l"/>
              <a:pathLst>
                <a:path h="1189742" w="9159185">
                  <a:moveTo>
                    <a:pt x="0" y="0"/>
                  </a:moveTo>
                  <a:lnTo>
                    <a:pt x="9159185" y="0"/>
                  </a:lnTo>
                  <a:lnTo>
                    <a:pt x="9159185" y="1189742"/>
                  </a:lnTo>
                  <a:lnTo>
                    <a:pt x="0" y="11897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84585" cy="1215142"/>
            </a:xfrm>
            <a:custGeom>
              <a:avLst/>
              <a:gdLst/>
              <a:ahLst/>
              <a:cxnLst/>
              <a:rect r="r" b="b" t="t" l="l"/>
              <a:pathLst>
                <a:path h="1215142" w="9184585">
                  <a:moveTo>
                    <a:pt x="80010" y="1215142"/>
                  </a:moveTo>
                  <a:lnTo>
                    <a:pt x="9184585" y="1215142"/>
                  </a:lnTo>
                  <a:lnTo>
                    <a:pt x="9184585" y="80010"/>
                  </a:lnTo>
                  <a:lnTo>
                    <a:pt x="9184585" y="67310"/>
                  </a:lnTo>
                  <a:lnTo>
                    <a:pt x="9184585" y="0"/>
                  </a:lnTo>
                  <a:lnTo>
                    <a:pt x="0" y="0"/>
                  </a:lnTo>
                  <a:lnTo>
                    <a:pt x="0" y="1215142"/>
                  </a:lnTo>
                  <a:lnTo>
                    <a:pt x="67310" y="1215142"/>
                  </a:lnTo>
                  <a:lnTo>
                    <a:pt x="80010" y="1215142"/>
                  </a:lnTo>
                  <a:close/>
                  <a:moveTo>
                    <a:pt x="12700" y="12700"/>
                  </a:moveTo>
                  <a:lnTo>
                    <a:pt x="9171885" y="12700"/>
                  </a:lnTo>
                  <a:lnTo>
                    <a:pt x="9171885" y="1202442"/>
                  </a:lnTo>
                  <a:lnTo>
                    <a:pt x="12700" y="1202442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487370" y="1596013"/>
            <a:ext cx="5197159" cy="89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spc="250" b="true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Applications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3604637"/>
            <a:ext cx="3916445" cy="5653663"/>
            <a:chOff x="0" y="0"/>
            <a:chExt cx="2593638" cy="37440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0010" y="80010"/>
              <a:ext cx="2500928" cy="3651387"/>
            </a:xfrm>
            <a:custGeom>
              <a:avLst/>
              <a:gdLst/>
              <a:ahLst/>
              <a:cxnLst/>
              <a:rect r="r" b="b" t="t" l="l"/>
              <a:pathLst>
                <a:path h="3651387" w="2500928">
                  <a:moveTo>
                    <a:pt x="0" y="3596778"/>
                  </a:moveTo>
                  <a:lnTo>
                    <a:pt x="0" y="3651387"/>
                  </a:lnTo>
                  <a:lnTo>
                    <a:pt x="2500928" y="3651387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3596778"/>
                  </a:lnTo>
                  <a:close/>
                </a:path>
              </a:pathLst>
            </a:custGeom>
            <a:solidFill>
              <a:srgbClr val="DED7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7310" y="67310"/>
              <a:ext cx="2526328" cy="3676787"/>
            </a:xfrm>
            <a:custGeom>
              <a:avLst/>
              <a:gdLst/>
              <a:ahLst/>
              <a:cxnLst/>
              <a:rect r="r" b="b" t="t" l="l"/>
              <a:pathLst>
                <a:path h="3676787" w="2526328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3664087"/>
                  </a:lnTo>
                  <a:lnTo>
                    <a:pt x="12700" y="3664087"/>
                  </a:lnTo>
                  <a:lnTo>
                    <a:pt x="12700" y="3609478"/>
                  </a:lnTo>
                  <a:lnTo>
                    <a:pt x="0" y="3609478"/>
                  </a:lnTo>
                  <a:lnTo>
                    <a:pt x="0" y="3676787"/>
                  </a:lnTo>
                  <a:lnTo>
                    <a:pt x="2526328" y="3676787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700" y="12700"/>
              <a:ext cx="2500928" cy="3651388"/>
            </a:xfrm>
            <a:custGeom>
              <a:avLst/>
              <a:gdLst/>
              <a:ahLst/>
              <a:cxnLst/>
              <a:rect r="r" b="b" t="t" l="l"/>
              <a:pathLst>
                <a:path h="3651388" w="2500928">
                  <a:moveTo>
                    <a:pt x="0" y="0"/>
                  </a:moveTo>
                  <a:lnTo>
                    <a:pt x="2500928" y="0"/>
                  </a:lnTo>
                  <a:lnTo>
                    <a:pt x="2500928" y="3651388"/>
                  </a:lnTo>
                  <a:lnTo>
                    <a:pt x="0" y="36513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26328" cy="3676788"/>
            </a:xfrm>
            <a:custGeom>
              <a:avLst/>
              <a:gdLst/>
              <a:ahLst/>
              <a:cxnLst/>
              <a:rect r="r" b="b" t="t" l="l"/>
              <a:pathLst>
                <a:path h="3676788" w="2526328">
                  <a:moveTo>
                    <a:pt x="80010" y="3676788"/>
                  </a:moveTo>
                  <a:lnTo>
                    <a:pt x="2526328" y="3676788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3676788"/>
                  </a:lnTo>
                  <a:lnTo>
                    <a:pt x="67310" y="3676788"/>
                  </a:lnTo>
                  <a:lnTo>
                    <a:pt x="80010" y="3676788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3664088"/>
                  </a:lnTo>
                  <a:lnTo>
                    <a:pt x="12700" y="366408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700" y="3604637"/>
            <a:ext cx="3800344" cy="1466828"/>
            <a:chOff x="0" y="0"/>
            <a:chExt cx="5067125" cy="195577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067125" cy="1955771"/>
              <a:chOff x="0" y="0"/>
              <a:chExt cx="27809146" cy="1073356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72390" y="72390"/>
                <a:ext cx="27664367" cy="10588787"/>
              </a:xfrm>
              <a:custGeom>
                <a:avLst/>
                <a:gdLst/>
                <a:ahLst/>
                <a:cxnLst/>
                <a:rect r="r" b="b" t="t" l="l"/>
                <a:pathLst>
                  <a:path h="10588787" w="27664367">
                    <a:moveTo>
                      <a:pt x="0" y="0"/>
                    </a:moveTo>
                    <a:lnTo>
                      <a:pt x="27664367" y="0"/>
                    </a:lnTo>
                    <a:lnTo>
                      <a:pt x="27664367" y="10588787"/>
                    </a:lnTo>
                    <a:lnTo>
                      <a:pt x="0" y="105887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ED7FF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7809146" cy="10733567"/>
              </a:xfrm>
              <a:custGeom>
                <a:avLst/>
                <a:gdLst/>
                <a:ahLst/>
                <a:cxnLst/>
                <a:rect r="r" b="b" t="t" l="l"/>
                <a:pathLst>
                  <a:path h="10733567" w="27809146">
                    <a:moveTo>
                      <a:pt x="27664367" y="10588787"/>
                    </a:moveTo>
                    <a:lnTo>
                      <a:pt x="27809146" y="10588787"/>
                    </a:lnTo>
                    <a:lnTo>
                      <a:pt x="27809146" y="10733567"/>
                    </a:lnTo>
                    <a:lnTo>
                      <a:pt x="27664367" y="10733567"/>
                    </a:lnTo>
                    <a:lnTo>
                      <a:pt x="27664367" y="10588787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10588787"/>
                    </a:lnTo>
                    <a:lnTo>
                      <a:pt x="0" y="10588787"/>
                    </a:lnTo>
                    <a:lnTo>
                      <a:pt x="0" y="144780"/>
                    </a:lnTo>
                    <a:close/>
                    <a:moveTo>
                      <a:pt x="0" y="10588787"/>
                    </a:moveTo>
                    <a:lnTo>
                      <a:pt x="144780" y="10588787"/>
                    </a:lnTo>
                    <a:lnTo>
                      <a:pt x="144780" y="10733567"/>
                    </a:lnTo>
                    <a:lnTo>
                      <a:pt x="0" y="10733567"/>
                    </a:lnTo>
                    <a:lnTo>
                      <a:pt x="0" y="10588787"/>
                    </a:lnTo>
                    <a:close/>
                    <a:moveTo>
                      <a:pt x="27664367" y="144780"/>
                    </a:moveTo>
                    <a:lnTo>
                      <a:pt x="27809146" y="144780"/>
                    </a:lnTo>
                    <a:lnTo>
                      <a:pt x="27809146" y="10588787"/>
                    </a:lnTo>
                    <a:lnTo>
                      <a:pt x="27664367" y="10588787"/>
                    </a:lnTo>
                    <a:lnTo>
                      <a:pt x="27664367" y="144780"/>
                    </a:lnTo>
                    <a:close/>
                    <a:moveTo>
                      <a:pt x="144780" y="10588787"/>
                    </a:moveTo>
                    <a:lnTo>
                      <a:pt x="27664367" y="10588787"/>
                    </a:lnTo>
                    <a:lnTo>
                      <a:pt x="27664367" y="10733567"/>
                    </a:lnTo>
                    <a:lnTo>
                      <a:pt x="144780" y="10733567"/>
                    </a:lnTo>
                    <a:lnTo>
                      <a:pt x="144780" y="10588787"/>
                    </a:lnTo>
                    <a:close/>
                    <a:moveTo>
                      <a:pt x="27664367" y="0"/>
                    </a:moveTo>
                    <a:lnTo>
                      <a:pt x="27809146" y="0"/>
                    </a:lnTo>
                    <a:lnTo>
                      <a:pt x="27809146" y="144780"/>
                    </a:lnTo>
                    <a:lnTo>
                      <a:pt x="27664367" y="144780"/>
                    </a:lnTo>
                    <a:lnTo>
                      <a:pt x="27664367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27664367" y="0"/>
                    </a:lnTo>
                    <a:lnTo>
                      <a:pt x="27664367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525532" y="701609"/>
              <a:ext cx="4016060" cy="5430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902"/>
                </a:lnSpc>
                <a:spcBef>
                  <a:spcPct val="0"/>
                </a:spcBef>
              </a:pPr>
              <a:r>
                <a:rPr lang="en-US" b="true" sz="2638" spc="52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Medi</a:t>
              </a:r>
              <a:r>
                <a:rPr lang="en-US" b="true" sz="2638" spc="52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cal Imaging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125244" y="3604637"/>
            <a:ext cx="3916445" cy="5653663"/>
            <a:chOff x="0" y="0"/>
            <a:chExt cx="2593638" cy="37440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80010" y="80010"/>
              <a:ext cx="2500928" cy="3651387"/>
            </a:xfrm>
            <a:custGeom>
              <a:avLst/>
              <a:gdLst/>
              <a:ahLst/>
              <a:cxnLst/>
              <a:rect r="r" b="b" t="t" l="l"/>
              <a:pathLst>
                <a:path h="3651387" w="2500928">
                  <a:moveTo>
                    <a:pt x="0" y="3596778"/>
                  </a:moveTo>
                  <a:lnTo>
                    <a:pt x="0" y="3651387"/>
                  </a:lnTo>
                  <a:lnTo>
                    <a:pt x="2500928" y="3651387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3596778"/>
                  </a:lnTo>
                  <a:close/>
                </a:path>
              </a:pathLst>
            </a:custGeom>
            <a:solidFill>
              <a:srgbClr val="D1F3C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7310" y="67310"/>
              <a:ext cx="2526328" cy="3676787"/>
            </a:xfrm>
            <a:custGeom>
              <a:avLst/>
              <a:gdLst/>
              <a:ahLst/>
              <a:cxnLst/>
              <a:rect r="r" b="b" t="t" l="l"/>
              <a:pathLst>
                <a:path h="3676787" w="2526328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3664087"/>
                  </a:lnTo>
                  <a:lnTo>
                    <a:pt x="12700" y="3664087"/>
                  </a:lnTo>
                  <a:lnTo>
                    <a:pt x="12700" y="3609478"/>
                  </a:lnTo>
                  <a:lnTo>
                    <a:pt x="0" y="3609478"/>
                  </a:lnTo>
                  <a:lnTo>
                    <a:pt x="0" y="3676787"/>
                  </a:lnTo>
                  <a:lnTo>
                    <a:pt x="2526328" y="3676787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2700" y="12700"/>
              <a:ext cx="2500928" cy="3651388"/>
            </a:xfrm>
            <a:custGeom>
              <a:avLst/>
              <a:gdLst/>
              <a:ahLst/>
              <a:cxnLst/>
              <a:rect r="r" b="b" t="t" l="l"/>
              <a:pathLst>
                <a:path h="3651388" w="2500928">
                  <a:moveTo>
                    <a:pt x="0" y="0"/>
                  </a:moveTo>
                  <a:lnTo>
                    <a:pt x="2500928" y="0"/>
                  </a:lnTo>
                  <a:lnTo>
                    <a:pt x="2500928" y="3651388"/>
                  </a:lnTo>
                  <a:lnTo>
                    <a:pt x="0" y="36513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26328" cy="3676788"/>
            </a:xfrm>
            <a:custGeom>
              <a:avLst/>
              <a:gdLst/>
              <a:ahLst/>
              <a:cxnLst/>
              <a:rect r="r" b="b" t="t" l="l"/>
              <a:pathLst>
                <a:path h="3676788" w="2526328">
                  <a:moveTo>
                    <a:pt x="80010" y="3676788"/>
                  </a:moveTo>
                  <a:lnTo>
                    <a:pt x="2526328" y="3676788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3676788"/>
                  </a:lnTo>
                  <a:lnTo>
                    <a:pt x="67310" y="3676788"/>
                  </a:lnTo>
                  <a:lnTo>
                    <a:pt x="80010" y="3676788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3664088"/>
                  </a:lnTo>
                  <a:lnTo>
                    <a:pt x="12700" y="366408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887094" y="3604637"/>
            <a:ext cx="4063941" cy="1447499"/>
            <a:chOff x="0" y="0"/>
            <a:chExt cx="5418589" cy="1929998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298637" y="0"/>
              <a:ext cx="5119951" cy="1929998"/>
              <a:chOff x="0" y="0"/>
              <a:chExt cx="27984383" cy="1054889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72390" y="72390"/>
                <a:ext cx="27839602" cy="10404112"/>
              </a:xfrm>
              <a:custGeom>
                <a:avLst/>
                <a:gdLst/>
                <a:ahLst/>
                <a:cxnLst/>
                <a:rect r="r" b="b" t="t" l="l"/>
                <a:pathLst>
                  <a:path h="10404112" w="27839602">
                    <a:moveTo>
                      <a:pt x="0" y="0"/>
                    </a:moveTo>
                    <a:lnTo>
                      <a:pt x="27839602" y="0"/>
                    </a:lnTo>
                    <a:lnTo>
                      <a:pt x="27839602" y="10404112"/>
                    </a:lnTo>
                    <a:lnTo>
                      <a:pt x="0" y="10404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1F3C8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7984382" cy="10548892"/>
              </a:xfrm>
              <a:custGeom>
                <a:avLst/>
                <a:gdLst/>
                <a:ahLst/>
                <a:cxnLst/>
                <a:rect r="r" b="b" t="t" l="l"/>
                <a:pathLst>
                  <a:path h="10548892" w="27984382">
                    <a:moveTo>
                      <a:pt x="27839603" y="10404111"/>
                    </a:moveTo>
                    <a:lnTo>
                      <a:pt x="27984382" y="10404111"/>
                    </a:lnTo>
                    <a:lnTo>
                      <a:pt x="27984382" y="10548892"/>
                    </a:lnTo>
                    <a:lnTo>
                      <a:pt x="27839603" y="10548892"/>
                    </a:lnTo>
                    <a:lnTo>
                      <a:pt x="27839603" y="10404111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10404111"/>
                    </a:lnTo>
                    <a:lnTo>
                      <a:pt x="0" y="10404111"/>
                    </a:lnTo>
                    <a:lnTo>
                      <a:pt x="0" y="144780"/>
                    </a:lnTo>
                    <a:close/>
                    <a:moveTo>
                      <a:pt x="0" y="10404111"/>
                    </a:moveTo>
                    <a:lnTo>
                      <a:pt x="144780" y="10404111"/>
                    </a:lnTo>
                    <a:lnTo>
                      <a:pt x="144780" y="10548892"/>
                    </a:lnTo>
                    <a:lnTo>
                      <a:pt x="0" y="10548892"/>
                    </a:lnTo>
                    <a:lnTo>
                      <a:pt x="0" y="10404111"/>
                    </a:lnTo>
                    <a:close/>
                    <a:moveTo>
                      <a:pt x="27839603" y="144780"/>
                    </a:moveTo>
                    <a:lnTo>
                      <a:pt x="27984382" y="144780"/>
                    </a:lnTo>
                    <a:lnTo>
                      <a:pt x="27984382" y="10404111"/>
                    </a:lnTo>
                    <a:lnTo>
                      <a:pt x="27839603" y="10404111"/>
                    </a:lnTo>
                    <a:lnTo>
                      <a:pt x="27839603" y="144780"/>
                    </a:lnTo>
                    <a:close/>
                    <a:moveTo>
                      <a:pt x="144780" y="10404111"/>
                    </a:moveTo>
                    <a:lnTo>
                      <a:pt x="27839603" y="10404111"/>
                    </a:lnTo>
                    <a:lnTo>
                      <a:pt x="27839603" y="10548892"/>
                    </a:lnTo>
                    <a:lnTo>
                      <a:pt x="144780" y="10548892"/>
                    </a:lnTo>
                    <a:lnTo>
                      <a:pt x="144780" y="10404111"/>
                    </a:lnTo>
                    <a:close/>
                    <a:moveTo>
                      <a:pt x="27839603" y="0"/>
                    </a:moveTo>
                    <a:lnTo>
                      <a:pt x="27984382" y="0"/>
                    </a:lnTo>
                    <a:lnTo>
                      <a:pt x="27984382" y="144780"/>
                    </a:lnTo>
                    <a:lnTo>
                      <a:pt x="27839603" y="144780"/>
                    </a:lnTo>
                    <a:lnTo>
                      <a:pt x="27839603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27839603" y="0"/>
                    </a:lnTo>
                    <a:lnTo>
                      <a:pt x="27839603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0" y="871745"/>
              <a:ext cx="5127016" cy="5194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722"/>
                </a:lnSpc>
                <a:spcBef>
                  <a:spcPct val="0"/>
                </a:spcBef>
              </a:pPr>
              <a:r>
                <a:rPr lang="en-US" b="true" sz="2474" spc="49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Surve</a:t>
              </a:r>
              <a:r>
                <a:rPr lang="en-US" b="true" sz="2474" spc="49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illance Systems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246311" y="3604637"/>
            <a:ext cx="3916445" cy="5653663"/>
            <a:chOff x="0" y="0"/>
            <a:chExt cx="2593638" cy="374409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80010" y="80010"/>
              <a:ext cx="2500928" cy="3651387"/>
            </a:xfrm>
            <a:custGeom>
              <a:avLst/>
              <a:gdLst/>
              <a:ahLst/>
              <a:cxnLst/>
              <a:rect r="r" b="b" t="t" l="l"/>
              <a:pathLst>
                <a:path h="3651387" w="2500928">
                  <a:moveTo>
                    <a:pt x="0" y="3596778"/>
                  </a:moveTo>
                  <a:lnTo>
                    <a:pt x="0" y="3651387"/>
                  </a:lnTo>
                  <a:lnTo>
                    <a:pt x="2500928" y="3651387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3596778"/>
                  </a:lnTo>
                  <a:close/>
                </a:path>
              </a:pathLst>
            </a:custGeom>
            <a:solidFill>
              <a:srgbClr val="FFF2A5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67310" y="67310"/>
              <a:ext cx="2526328" cy="3676787"/>
            </a:xfrm>
            <a:custGeom>
              <a:avLst/>
              <a:gdLst/>
              <a:ahLst/>
              <a:cxnLst/>
              <a:rect r="r" b="b" t="t" l="l"/>
              <a:pathLst>
                <a:path h="3676787" w="2526328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3664087"/>
                  </a:lnTo>
                  <a:lnTo>
                    <a:pt x="12700" y="3664087"/>
                  </a:lnTo>
                  <a:lnTo>
                    <a:pt x="12700" y="3609478"/>
                  </a:lnTo>
                  <a:lnTo>
                    <a:pt x="0" y="3609478"/>
                  </a:lnTo>
                  <a:lnTo>
                    <a:pt x="0" y="3676787"/>
                  </a:lnTo>
                  <a:lnTo>
                    <a:pt x="2526328" y="3676787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2500928" cy="3651388"/>
            </a:xfrm>
            <a:custGeom>
              <a:avLst/>
              <a:gdLst/>
              <a:ahLst/>
              <a:cxnLst/>
              <a:rect r="r" b="b" t="t" l="l"/>
              <a:pathLst>
                <a:path h="3651388" w="2500928">
                  <a:moveTo>
                    <a:pt x="0" y="0"/>
                  </a:moveTo>
                  <a:lnTo>
                    <a:pt x="2500928" y="0"/>
                  </a:lnTo>
                  <a:lnTo>
                    <a:pt x="2500928" y="3651388"/>
                  </a:lnTo>
                  <a:lnTo>
                    <a:pt x="0" y="36513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26328" cy="3676788"/>
            </a:xfrm>
            <a:custGeom>
              <a:avLst/>
              <a:gdLst/>
              <a:ahLst/>
              <a:cxnLst/>
              <a:rect r="r" b="b" t="t" l="l"/>
              <a:pathLst>
                <a:path h="3676788" w="2526328">
                  <a:moveTo>
                    <a:pt x="80010" y="3676788"/>
                  </a:moveTo>
                  <a:lnTo>
                    <a:pt x="2526328" y="3676788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3676788"/>
                  </a:lnTo>
                  <a:lnTo>
                    <a:pt x="67310" y="3676788"/>
                  </a:lnTo>
                  <a:lnTo>
                    <a:pt x="80010" y="3676788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3664088"/>
                  </a:lnTo>
                  <a:lnTo>
                    <a:pt x="12700" y="366408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246311" y="3604637"/>
            <a:ext cx="3800344" cy="1494525"/>
            <a:chOff x="0" y="0"/>
            <a:chExt cx="5067125" cy="19927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5067125" cy="1992700"/>
              <a:chOff x="0" y="0"/>
              <a:chExt cx="27809146" cy="10936241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72390" y="72390"/>
                <a:ext cx="27664367" cy="10791461"/>
              </a:xfrm>
              <a:custGeom>
                <a:avLst/>
                <a:gdLst/>
                <a:ahLst/>
                <a:cxnLst/>
                <a:rect r="r" b="b" t="t" l="l"/>
                <a:pathLst>
                  <a:path h="10791461" w="27664367">
                    <a:moveTo>
                      <a:pt x="0" y="0"/>
                    </a:moveTo>
                    <a:lnTo>
                      <a:pt x="27664367" y="0"/>
                    </a:lnTo>
                    <a:lnTo>
                      <a:pt x="27664367" y="10791461"/>
                    </a:lnTo>
                    <a:lnTo>
                      <a:pt x="0" y="10791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2A5"/>
              </a:solidFill>
            </p:spPr>
          </p:sp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27809146" cy="10936241"/>
              </a:xfrm>
              <a:custGeom>
                <a:avLst/>
                <a:gdLst/>
                <a:ahLst/>
                <a:cxnLst/>
                <a:rect r="r" b="b" t="t" l="l"/>
                <a:pathLst>
                  <a:path h="10936241" w="27809146">
                    <a:moveTo>
                      <a:pt x="27664367" y="10791461"/>
                    </a:moveTo>
                    <a:lnTo>
                      <a:pt x="27809146" y="10791461"/>
                    </a:lnTo>
                    <a:lnTo>
                      <a:pt x="27809146" y="10936241"/>
                    </a:lnTo>
                    <a:lnTo>
                      <a:pt x="27664367" y="10936241"/>
                    </a:lnTo>
                    <a:lnTo>
                      <a:pt x="27664367" y="10791461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10791461"/>
                    </a:lnTo>
                    <a:lnTo>
                      <a:pt x="0" y="10791461"/>
                    </a:lnTo>
                    <a:lnTo>
                      <a:pt x="0" y="144780"/>
                    </a:lnTo>
                    <a:close/>
                    <a:moveTo>
                      <a:pt x="0" y="10791461"/>
                    </a:moveTo>
                    <a:lnTo>
                      <a:pt x="144780" y="10791461"/>
                    </a:lnTo>
                    <a:lnTo>
                      <a:pt x="144780" y="10936241"/>
                    </a:lnTo>
                    <a:lnTo>
                      <a:pt x="0" y="10936241"/>
                    </a:lnTo>
                    <a:lnTo>
                      <a:pt x="0" y="10791461"/>
                    </a:lnTo>
                    <a:close/>
                    <a:moveTo>
                      <a:pt x="27664367" y="144780"/>
                    </a:moveTo>
                    <a:lnTo>
                      <a:pt x="27809146" y="144780"/>
                    </a:lnTo>
                    <a:lnTo>
                      <a:pt x="27809146" y="10791461"/>
                    </a:lnTo>
                    <a:lnTo>
                      <a:pt x="27664367" y="10791461"/>
                    </a:lnTo>
                    <a:lnTo>
                      <a:pt x="27664367" y="144780"/>
                    </a:lnTo>
                    <a:close/>
                    <a:moveTo>
                      <a:pt x="144780" y="10791461"/>
                    </a:moveTo>
                    <a:lnTo>
                      <a:pt x="27664367" y="10791461"/>
                    </a:lnTo>
                    <a:lnTo>
                      <a:pt x="27664367" y="10936241"/>
                    </a:lnTo>
                    <a:lnTo>
                      <a:pt x="144780" y="10936241"/>
                    </a:lnTo>
                    <a:lnTo>
                      <a:pt x="144780" y="10791461"/>
                    </a:lnTo>
                    <a:close/>
                    <a:moveTo>
                      <a:pt x="27664367" y="0"/>
                    </a:moveTo>
                    <a:lnTo>
                      <a:pt x="27809146" y="0"/>
                    </a:lnTo>
                    <a:lnTo>
                      <a:pt x="27809146" y="144780"/>
                    </a:lnTo>
                    <a:lnTo>
                      <a:pt x="27664367" y="144780"/>
                    </a:lnTo>
                    <a:lnTo>
                      <a:pt x="27664367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27664367" y="0"/>
                    </a:lnTo>
                    <a:lnTo>
                      <a:pt x="27664367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892189" y="668350"/>
              <a:ext cx="3282747" cy="939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400" spc="48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Pho</a:t>
              </a:r>
              <a:r>
                <a:rPr lang="en-US" b="true" sz="2400" spc="48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tography &amp; Mobile Cameras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62781" y="3604637"/>
            <a:ext cx="3916445" cy="5653663"/>
            <a:chOff x="0" y="0"/>
            <a:chExt cx="2593638" cy="374409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0010" y="80010"/>
              <a:ext cx="2500928" cy="3651387"/>
            </a:xfrm>
            <a:custGeom>
              <a:avLst/>
              <a:gdLst/>
              <a:ahLst/>
              <a:cxnLst/>
              <a:rect r="r" b="b" t="t" l="l"/>
              <a:pathLst>
                <a:path h="3651387" w="2500928">
                  <a:moveTo>
                    <a:pt x="0" y="3596778"/>
                  </a:moveTo>
                  <a:lnTo>
                    <a:pt x="0" y="3651387"/>
                  </a:lnTo>
                  <a:lnTo>
                    <a:pt x="2500928" y="3651387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3596778"/>
                  </a:lnTo>
                  <a:close/>
                </a:path>
              </a:pathLst>
            </a:custGeom>
            <a:solidFill>
              <a:srgbClr val="F7B2B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67310" y="67310"/>
              <a:ext cx="2526328" cy="3676787"/>
            </a:xfrm>
            <a:custGeom>
              <a:avLst/>
              <a:gdLst/>
              <a:ahLst/>
              <a:cxnLst/>
              <a:rect r="r" b="b" t="t" l="l"/>
              <a:pathLst>
                <a:path h="3676787" w="2526328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3664087"/>
                  </a:lnTo>
                  <a:lnTo>
                    <a:pt x="12700" y="3664087"/>
                  </a:lnTo>
                  <a:lnTo>
                    <a:pt x="12700" y="3609478"/>
                  </a:lnTo>
                  <a:lnTo>
                    <a:pt x="0" y="3609478"/>
                  </a:lnTo>
                  <a:lnTo>
                    <a:pt x="0" y="3676787"/>
                  </a:lnTo>
                  <a:lnTo>
                    <a:pt x="2526328" y="3676787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2500928" cy="3651388"/>
            </a:xfrm>
            <a:custGeom>
              <a:avLst/>
              <a:gdLst/>
              <a:ahLst/>
              <a:cxnLst/>
              <a:rect r="r" b="b" t="t" l="l"/>
              <a:pathLst>
                <a:path h="3651388" w="2500928">
                  <a:moveTo>
                    <a:pt x="0" y="0"/>
                  </a:moveTo>
                  <a:lnTo>
                    <a:pt x="2500928" y="0"/>
                  </a:lnTo>
                  <a:lnTo>
                    <a:pt x="2500928" y="3651388"/>
                  </a:lnTo>
                  <a:lnTo>
                    <a:pt x="0" y="365138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26328" cy="3676788"/>
            </a:xfrm>
            <a:custGeom>
              <a:avLst/>
              <a:gdLst/>
              <a:ahLst/>
              <a:cxnLst/>
              <a:rect r="r" b="b" t="t" l="l"/>
              <a:pathLst>
                <a:path h="3676788" w="2526328">
                  <a:moveTo>
                    <a:pt x="80010" y="3676788"/>
                  </a:moveTo>
                  <a:lnTo>
                    <a:pt x="2526328" y="3676788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3676788"/>
                  </a:lnTo>
                  <a:lnTo>
                    <a:pt x="67310" y="3676788"/>
                  </a:lnTo>
                  <a:lnTo>
                    <a:pt x="80010" y="3676788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3664088"/>
                  </a:lnTo>
                  <a:lnTo>
                    <a:pt x="12700" y="366408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362781" y="3576840"/>
            <a:ext cx="3800344" cy="1494625"/>
            <a:chOff x="0" y="0"/>
            <a:chExt cx="5067125" cy="1992834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5067125" cy="1992834"/>
              <a:chOff x="0" y="0"/>
              <a:chExt cx="27809146" cy="1093697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72390" y="72390"/>
                <a:ext cx="27664367" cy="10792192"/>
              </a:xfrm>
              <a:custGeom>
                <a:avLst/>
                <a:gdLst/>
                <a:ahLst/>
                <a:cxnLst/>
                <a:rect r="r" b="b" t="t" l="l"/>
                <a:pathLst>
                  <a:path h="10792192" w="27664367">
                    <a:moveTo>
                      <a:pt x="0" y="0"/>
                    </a:moveTo>
                    <a:lnTo>
                      <a:pt x="27664367" y="0"/>
                    </a:lnTo>
                    <a:lnTo>
                      <a:pt x="27664367" y="10792192"/>
                    </a:lnTo>
                    <a:lnTo>
                      <a:pt x="0" y="107921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A794"/>
              </a:solidFill>
            </p:spPr>
          </p:sp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7809146" cy="10936971"/>
              </a:xfrm>
              <a:custGeom>
                <a:avLst/>
                <a:gdLst/>
                <a:ahLst/>
                <a:cxnLst/>
                <a:rect r="r" b="b" t="t" l="l"/>
                <a:pathLst>
                  <a:path h="10936971" w="27809146">
                    <a:moveTo>
                      <a:pt x="27664367" y="10792192"/>
                    </a:moveTo>
                    <a:lnTo>
                      <a:pt x="27809146" y="10792192"/>
                    </a:lnTo>
                    <a:lnTo>
                      <a:pt x="27809146" y="10936971"/>
                    </a:lnTo>
                    <a:lnTo>
                      <a:pt x="27664367" y="10936971"/>
                    </a:lnTo>
                    <a:lnTo>
                      <a:pt x="27664367" y="10792192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10792192"/>
                    </a:lnTo>
                    <a:lnTo>
                      <a:pt x="0" y="10792192"/>
                    </a:lnTo>
                    <a:lnTo>
                      <a:pt x="0" y="144780"/>
                    </a:lnTo>
                    <a:close/>
                    <a:moveTo>
                      <a:pt x="0" y="10792192"/>
                    </a:moveTo>
                    <a:lnTo>
                      <a:pt x="144780" y="10792192"/>
                    </a:lnTo>
                    <a:lnTo>
                      <a:pt x="144780" y="10936971"/>
                    </a:lnTo>
                    <a:lnTo>
                      <a:pt x="0" y="10936971"/>
                    </a:lnTo>
                    <a:lnTo>
                      <a:pt x="0" y="10792192"/>
                    </a:lnTo>
                    <a:close/>
                    <a:moveTo>
                      <a:pt x="27664367" y="144780"/>
                    </a:moveTo>
                    <a:lnTo>
                      <a:pt x="27809146" y="144780"/>
                    </a:lnTo>
                    <a:lnTo>
                      <a:pt x="27809146" y="10792192"/>
                    </a:lnTo>
                    <a:lnTo>
                      <a:pt x="27664367" y="10792192"/>
                    </a:lnTo>
                    <a:lnTo>
                      <a:pt x="27664367" y="144780"/>
                    </a:lnTo>
                    <a:close/>
                    <a:moveTo>
                      <a:pt x="144780" y="10792192"/>
                    </a:moveTo>
                    <a:lnTo>
                      <a:pt x="27664367" y="10792192"/>
                    </a:lnTo>
                    <a:lnTo>
                      <a:pt x="27664367" y="10936971"/>
                    </a:lnTo>
                    <a:lnTo>
                      <a:pt x="144780" y="10936971"/>
                    </a:lnTo>
                    <a:lnTo>
                      <a:pt x="144780" y="10792192"/>
                    </a:lnTo>
                    <a:close/>
                    <a:moveTo>
                      <a:pt x="27664367" y="0"/>
                    </a:moveTo>
                    <a:lnTo>
                      <a:pt x="27809146" y="0"/>
                    </a:lnTo>
                    <a:lnTo>
                      <a:pt x="27809146" y="144780"/>
                    </a:lnTo>
                    <a:lnTo>
                      <a:pt x="27664367" y="144780"/>
                    </a:lnTo>
                    <a:lnTo>
                      <a:pt x="27664367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27664367" y="0"/>
                    </a:lnTo>
                    <a:lnTo>
                      <a:pt x="27664367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TextBox 53" id="53"/>
            <p:cNvSpPr txBox="true"/>
            <p:nvPr/>
          </p:nvSpPr>
          <p:spPr>
            <a:xfrm rot="0">
              <a:off x="724063" y="966605"/>
              <a:ext cx="3618999" cy="494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400" spc="48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Digi</a:t>
              </a:r>
              <a:r>
                <a:rPr lang="en-US" b="true" sz="2400" spc="48">
                  <a:solidFill>
                    <a:srgbClr val="000000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tal Forensics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970649" y="6037325"/>
            <a:ext cx="3916445" cy="146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2"/>
              </a:lnSpc>
              <a:spcBef>
                <a:spcPct val="0"/>
              </a:spcBef>
            </a:pPr>
            <a:r>
              <a:rPr lang="en-US" b="true" sz="2047" spc="4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→ </a:t>
            </a:r>
            <a:r>
              <a:rPr lang="en-US" b="true" sz="2047" spc="4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MRI and CT scans often contain noise</a:t>
            </a:r>
          </a:p>
          <a:p>
            <a:pPr algn="ctr">
              <a:lnSpc>
                <a:spcPts val="2252"/>
              </a:lnSpc>
              <a:spcBef>
                <a:spcPct val="0"/>
              </a:spcBef>
            </a:pPr>
          </a:p>
          <a:p>
            <a:pPr algn="ctr">
              <a:lnSpc>
                <a:spcPts val="2252"/>
              </a:lnSpc>
            </a:pPr>
            <a:r>
              <a:rPr lang="en-US" b="true" sz="2047" spc="4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→</a:t>
            </a:r>
            <a:r>
              <a:rPr lang="en-US" b="true" sz="2047" spc="4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Restoration improves diagnostic accuracy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125244" y="6056375"/>
            <a:ext cx="3916445" cy="1460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  <a:spcBef>
                <a:spcPct val="0"/>
              </a:spcBef>
            </a:pPr>
            <a:r>
              <a:rPr lang="en-US" b="true" sz="2168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→ </a:t>
            </a:r>
            <a:r>
              <a:rPr lang="en-US" b="true" sz="2168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CCTV footage is often noisy and low-quality</a:t>
            </a:r>
          </a:p>
          <a:p>
            <a:pPr algn="ctr">
              <a:lnSpc>
                <a:spcPts val="2276"/>
              </a:lnSpc>
              <a:spcBef>
                <a:spcPct val="0"/>
              </a:spcBef>
            </a:pPr>
          </a:p>
          <a:p>
            <a:pPr algn="ctr">
              <a:lnSpc>
                <a:spcPts val="2276"/>
              </a:lnSpc>
              <a:spcBef>
                <a:spcPct val="0"/>
              </a:spcBef>
            </a:pPr>
            <a:r>
              <a:rPr lang="en-US" b="true" sz="2168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→Denoising helps identify faces and objects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377011" y="6027800"/>
            <a:ext cx="3669644" cy="147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b="true" sz="2100" spc="4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→ </a:t>
            </a:r>
            <a:r>
              <a:rPr lang="en-US" b="true" sz="2100" spc="4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Low-light images contain noise and blur</a:t>
            </a:r>
          </a:p>
          <a:p>
            <a:pPr algn="ctr">
              <a:lnSpc>
                <a:spcPts val="2310"/>
              </a:lnSpc>
              <a:spcBef>
                <a:spcPct val="0"/>
              </a:spcBef>
            </a:pPr>
          </a:p>
          <a:p>
            <a:pPr algn="ctr">
              <a:lnSpc>
                <a:spcPts val="2310"/>
              </a:lnSpc>
              <a:spcBef>
                <a:spcPct val="0"/>
              </a:spcBef>
            </a:pPr>
            <a:r>
              <a:rPr lang="en-US" b="true" sz="2100" spc="4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→Convolution filters restore clarity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555882" y="5865432"/>
            <a:ext cx="3414141" cy="180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9"/>
              </a:lnSpc>
              <a:spcBef>
                <a:spcPct val="0"/>
              </a:spcBef>
            </a:pPr>
            <a:r>
              <a:rPr lang="en-US" b="true" sz="2117" spc="4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→ </a:t>
            </a:r>
            <a:r>
              <a:rPr lang="en-US" b="true" sz="2117" spc="4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Crime evidence images may be damaged or unclear</a:t>
            </a:r>
          </a:p>
          <a:p>
            <a:pPr algn="ctr">
              <a:lnSpc>
                <a:spcPts val="2329"/>
              </a:lnSpc>
              <a:spcBef>
                <a:spcPct val="0"/>
              </a:spcBef>
            </a:pPr>
          </a:p>
          <a:p>
            <a:pPr algn="ctr">
              <a:lnSpc>
                <a:spcPts val="2329"/>
              </a:lnSpc>
              <a:spcBef>
                <a:spcPct val="0"/>
              </a:spcBef>
            </a:pPr>
            <a:r>
              <a:rPr lang="en-US" b="true" sz="2117" spc="4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→Linear reconstruction recovers lost detail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DAHGWqPzblo</dc:identifier>
  <dcterms:modified xsi:type="dcterms:W3CDTF">2011-08-01T06:04:30Z</dcterms:modified>
  <cp:revision>1</cp:revision>
  <dc:title>Enhanced Image Restoration </dc:title>
</cp:coreProperties>
</file>